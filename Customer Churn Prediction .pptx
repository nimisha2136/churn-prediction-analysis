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4461746" name="Google Shape;3;n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5713714" name="Google Shape;4;n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4681398" name="Google Shape;81;p1:notes"/>
          <p:cNvSpPr/>
          <p:nvPr>
            <p:ph type="sldImg" idx="2"/>
          </p:nvPr>
        </p:nvSpPr>
        <p:spPr bwMode="auto"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0845037" name="Google Shape;82;p1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23966230" name="Google Shape;83;p1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8027805" name="Google Shape;93;p2:notes"/>
          <p:cNvSpPr/>
          <p:nvPr>
            <p:ph type="sldImg" idx="2"/>
          </p:nvPr>
        </p:nvSpPr>
        <p:spPr bwMode="auto"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854058" name="Google Shape;94;p2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32404415" name="Google Shape;95;p2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668219" name="Google Shape;120;p3:notes"/>
          <p:cNvSpPr/>
          <p:nvPr>
            <p:ph type="sldImg" idx="2"/>
          </p:nvPr>
        </p:nvSpPr>
        <p:spPr bwMode="auto"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776826" name="Google Shape;121;p3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70017340" name="Google Shape;122;p3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659302" name="Google Shape;132;p4:notes"/>
          <p:cNvSpPr/>
          <p:nvPr>
            <p:ph type="sldImg" idx="2"/>
          </p:nvPr>
        </p:nvSpPr>
        <p:spPr bwMode="auto"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8050334" name="Google Shape;133;p4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4534314" name="Google Shape;134;p4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80312" name="Google Shape;144;p5:notes"/>
          <p:cNvSpPr/>
          <p:nvPr>
            <p:ph type="sldImg" idx="2"/>
          </p:nvPr>
        </p:nvSpPr>
        <p:spPr bwMode="auto"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4591282" name="Google Shape;145;p5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66589370" name="Google Shape;146;p5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9094808" name="Google Shape;156;p6:notes"/>
          <p:cNvSpPr/>
          <p:nvPr>
            <p:ph type="sldImg" idx="2"/>
          </p:nvPr>
        </p:nvSpPr>
        <p:spPr bwMode="auto"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7005587" name="Google Shape;157;p6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49760537" name="Google Shape;158;p6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744237" name="Google Shape;167;p7:notes"/>
          <p:cNvSpPr/>
          <p:nvPr>
            <p:ph type="sldImg" idx="2"/>
          </p:nvPr>
        </p:nvSpPr>
        <p:spPr bwMode="auto"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9070871" name="Google Shape;168;p7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7618365" name="Google Shape;169;p7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09323" name="Google Shape;181;p8:notes"/>
          <p:cNvSpPr/>
          <p:nvPr>
            <p:ph type="sldImg" idx="2"/>
          </p:nvPr>
        </p:nvSpPr>
        <p:spPr bwMode="auto"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7729122" name="Google Shape;182;p8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76237994" name="Google Shape;183;p8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1885262" name="Google Shape;192;p9:notes"/>
          <p:cNvSpPr/>
          <p:nvPr>
            <p:ph type="sldImg" idx="2"/>
          </p:nvPr>
        </p:nvSpPr>
        <p:spPr bwMode="auto"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4748029" name="Google Shape;193;p9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31404910" name="Google Shape;194;p9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061521" name="Google Shape;203;p10:notes"/>
          <p:cNvSpPr/>
          <p:nvPr>
            <p:ph type="sldImg" idx="2"/>
          </p:nvPr>
        </p:nvSpPr>
        <p:spPr bwMode="auto"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937025" name="Google Shape;204;p10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29334155" name="Google Shape;205;p10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198440" name="Google Shape;217;p11:notes"/>
          <p:cNvSpPr/>
          <p:nvPr>
            <p:ph type="sldImg" idx="2"/>
          </p:nvPr>
        </p:nvSpPr>
        <p:spPr bwMode="auto"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267215" name="Google Shape;218;p11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44749349" name="Google Shape;219;p11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3099561" name="Google Shape;229;p12:notes"/>
          <p:cNvSpPr/>
          <p:nvPr>
            <p:ph type="sldImg" idx="2"/>
          </p:nvPr>
        </p:nvSpPr>
        <p:spPr bwMode="auto"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7624899" name="Google Shape;230;p12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8049335" name="Google Shape;231;p12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201705" name="Google Shape;240;p13:notes"/>
          <p:cNvSpPr/>
          <p:nvPr>
            <p:ph type="sldImg" idx="2"/>
          </p:nvPr>
        </p:nvSpPr>
        <p:spPr bwMode="auto"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0430236" name="Google Shape;241;p13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01110950" name="Google Shape;242;p13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2174700" name="Google Shape;12;p15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96707900" name="Google Shape;13;p15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77868045" name="Google Shape;14;p15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7200689" name="Google Shape;16;p16"/>
          <p:cNvSpPr txBox="1"/>
          <p:nvPr>
            <p:ph type="ctrTitle"/>
          </p:nvPr>
        </p:nvSpPr>
        <p:spPr bwMode="auto"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18363008" name="Google Shape;17;p16"/>
          <p:cNvSpPr txBox="1"/>
          <p:nvPr>
            <p:ph type="subTitle" idx="1"/>
          </p:nvPr>
        </p:nvSpPr>
        <p:spPr bwMode="auto">
          <a:xfrm>
            <a:off x="1371600" y="3886200"/>
            <a:ext cx="6400800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040968842" name="Google Shape;18;p16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31316038" name="Google Shape;19;p16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2738804" name="Google Shape;20;p16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Content" preserve="0" showMasterPhAnim="0" showMasterSp="1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993782" name="Google Shape;22;p17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82307186" name="Google Shape;23;p17"/>
          <p:cNvSpPr txBox="1"/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37354028" name="Google Shape;24;p17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48306059" name="Google Shape;25;p17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90897967" name="Google Shape;26;p17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0164389" name="Google Shape;28;p18"/>
          <p:cNvSpPr txBox="1"/>
          <p:nvPr>
            <p:ph type="title"/>
          </p:nvPr>
        </p:nvSpPr>
        <p:spPr bwMode="auto"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7125131" name="Google Shape;29;p18"/>
          <p:cNvSpPr txBox="1"/>
          <p:nvPr>
            <p:ph type="body" idx="1"/>
          </p:nvPr>
        </p:nvSpPr>
        <p:spPr bwMode="auto"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83054246" name="Google Shape;30;p18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28362034" name="Google Shape;31;p18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13138900" name="Google Shape;32;p18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wo Content" preserve="0" showMasterPhAnim="0" showMasterSp="1" type="twoObj" userDrawn="1">
  <p:cSld name="TWO_OBJEC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6262974" name="Google Shape;34;p19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59852653" name="Google Shape;35;p19"/>
          <p:cNvSpPr txBox="1"/>
          <p:nvPr>
            <p:ph type="body" idx="1"/>
          </p:nvPr>
        </p:nvSpPr>
        <p:spPr bwMode="auto"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567202724" name="Google Shape;36;p19"/>
          <p:cNvSpPr txBox="1"/>
          <p:nvPr>
            <p:ph type="body" idx="2"/>
          </p:nvPr>
        </p:nvSpPr>
        <p:spPr bwMode="auto"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721393159" name="Google Shape;37;p19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55904945" name="Google Shape;38;p19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48738243" name="Google Shape;39;p19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mparison" preserve="0" showMasterPhAnim="0" showMasterSp="1" type="twoTxTwoObj" userDrawn="1">
  <p:cSld name="TWO_OBJECTS_WITH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0650525" name="Google Shape;41;p20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3620114" name="Google Shape;42;p20"/>
          <p:cNvSpPr txBox="1"/>
          <p:nvPr>
            <p:ph type="body" idx="1"/>
          </p:nvPr>
        </p:nvSpPr>
        <p:spPr bwMode="auto"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1595498203" name="Google Shape;43;p20"/>
          <p:cNvSpPr txBox="1"/>
          <p:nvPr>
            <p:ph type="body" idx="2"/>
          </p:nvPr>
        </p:nvSpPr>
        <p:spPr bwMode="auto"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095421783" name="Google Shape;44;p20"/>
          <p:cNvSpPr txBox="1"/>
          <p:nvPr>
            <p:ph type="body" idx="3"/>
          </p:nvPr>
        </p:nvSpPr>
        <p:spPr bwMode="auto"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249013978" name="Google Shape;45;p20"/>
          <p:cNvSpPr txBox="1"/>
          <p:nvPr>
            <p:ph type="body" idx="4"/>
          </p:nvPr>
        </p:nvSpPr>
        <p:spPr bwMode="auto"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263202850" name="Google Shape;46;p20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78297629" name="Google Shape;47;p20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11709384" name="Google Shape;48;p20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2106021" name="Google Shape;50;p21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32030424" name="Google Shape;51;p21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16030200" name="Google Shape;52;p21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38147668" name="Google Shape;53;p21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ntent with Caption" preserve="0" showMasterPhAnim="0" showMasterSp="1" type="objTx" userDrawn="1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172346" name="Google Shape;55;p22"/>
          <p:cNvSpPr txBox="1"/>
          <p:nvPr>
            <p:ph type="title"/>
          </p:nvPr>
        </p:nvSpPr>
        <p:spPr bwMode="auto"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03654400" name="Google Shape;56;p22"/>
          <p:cNvSpPr txBox="1"/>
          <p:nvPr>
            <p:ph type="body" idx="1"/>
          </p:nvPr>
        </p:nvSpPr>
        <p:spPr bwMode="auto"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799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227689066" name="Google Shape;57;p22"/>
          <p:cNvSpPr txBox="1"/>
          <p:nvPr>
            <p:ph type="body" idx="2"/>
          </p:nvPr>
        </p:nvSpPr>
        <p:spPr bwMode="auto"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>
              <a:defRPr/>
            </a:pPr>
            <a:endParaRPr/>
          </a:p>
        </p:txBody>
      </p:sp>
      <p:sp>
        <p:nvSpPr>
          <p:cNvPr id="753302707" name="Google Shape;58;p22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9046606" name="Google Shape;59;p22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22940916" name="Google Shape;60;p22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icture with Caption" preserve="0" showMasterPhAnim="0" showMasterSp="1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3639205" name="Google Shape;62;p23"/>
          <p:cNvSpPr txBox="1"/>
          <p:nvPr>
            <p:ph type="title"/>
          </p:nvPr>
        </p:nvSpPr>
        <p:spPr bwMode="auto"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91612584" name="Google Shape;63;p23"/>
          <p:cNvSpPr/>
          <p:nvPr>
            <p:ph type="pic" idx="2"/>
          </p:nvPr>
        </p:nvSpPr>
        <p:spPr bwMode="auto"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34921959" name="Google Shape;64;p23"/>
          <p:cNvSpPr txBox="1"/>
          <p:nvPr>
            <p:ph type="body" idx="1"/>
          </p:nvPr>
        </p:nvSpPr>
        <p:spPr bwMode="auto"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>
              <a:defRPr/>
            </a:pPr>
            <a:endParaRPr/>
          </a:p>
        </p:txBody>
      </p:sp>
      <p:sp>
        <p:nvSpPr>
          <p:cNvPr id="1062796383" name="Google Shape;65;p23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72217726" name="Google Shape;66;p23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17328926" name="Google Shape;67;p23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Vertical Text" preserve="0" showMasterPhAnim="0" showMasterSp="1" type="vertTx" userDrawn="1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256343" name="Google Shape;69;p24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02391716" name="Google Shape;70;p24"/>
          <p:cNvSpPr txBox="1"/>
          <p:nvPr>
            <p:ph type="body" idx="1"/>
          </p:nvPr>
        </p:nvSpPr>
        <p:spPr bwMode="auto"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12850863" name="Google Shape;71;p24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852475" name="Google Shape;72;p24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91819799" name="Google Shape;73;p24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Vertical Title and Text" preserve="0" showMasterPhAnim="0" showMasterSp="1" type="vertTitleAndTx" userDrawn="1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998028" name="Google Shape;75;p25"/>
          <p:cNvSpPr txBox="1"/>
          <p:nvPr>
            <p:ph type="title"/>
          </p:nvPr>
        </p:nvSpPr>
        <p:spPr bwMode="auto"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657620" name="Google Shape;76;p25"/>
          <p:cNvSpPr txBox="1"/>
          <p:nvPr>
            <p:ph type="body" idx="1"/>
          </p:nvPr>
        </p:nvSpPr>
        <p:spPr bwMode="auto"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5282965" name="Google Shape;77;p25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05800061" name="Google Shape;78;p25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40406645" name="Google Shape;79;p25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52546" name="Google Shape;6;p14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627959761" name="Google Shape;7;p14"/>
          <p:cNvSpPr txBox="1"/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79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006904381" name="Google Shape;8;p14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79808441" name="Google Shape;9;p14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61260580" name="Google Shape;10;p14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Relationship Id="rId4" Type="http://schemas.openxmlformats.org/officeDocument/2006/relationships/image" Target="../media/image10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Relationship Id="rId4" Type="http://schemas.openxmlformats.org/officeDocument/2006/relationships/image" Target="../media/image7.jp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jp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hyperlink" Target="https://colab.research.google.com/drive/1DfuGCAY8-6XPCJAcMdyqaLxQviw4GgdA#scrollTo=M4lSKQjf6fU7" TargetMode="Externa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jpg"/><Relationship Id="rId4" Type="http://schemas.openxmlformats.org/officeDocument/2006/relationships/image" Target="../media/image20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jpg"/><Relationship Id="rId4" Type="http://schemas.openxmlformats.org/officeDocument/2006/relationships/image" Target="../media/image22.jp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8431350" name="Google Shape;85;p1"/>
          <p:cNvSpPr/>
          <p:nvPr/>
        </p:nvSpPr>
        <p:spPr bwMode="auto"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 l="0" t="-9220" r="-21364" b="-34530"/>
            </a:stretch>
          </a:blipFill>
          <a:ln>
            <a:noFill/>
          </a:ln>
        </p:spPr>
      </p:sp>
      <p:sp>
        <p:nvSpPr>
          <p:cNvPr id="764951653" name="Google Shape;86;p1"/>
          <p:cNvSpPr txBox="1"/>
          <p:nvPr/>
        </p:nvSpPr>
        <p:spPr bwMode="auto">
          <a:xfrm>
            <a:off x="3156575" y="3258078"/>
            <a:ext cx="12400500" cy="6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4777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lnSpc>
                <a:spcPct val="115577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500" b="0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</a:rPr>
              <a:t>TELECOM CUSTOMER RETENTION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900" b="0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</a:rPr>
              <a:t>INSIGHTS AND STRATEGY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lnSpc>
                <a:spcPct val="231443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lnSpc>
                <a:spcPct val="231443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lnSpc>
                <a:spcPct val="231443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lnSpc>
                <a:spcPct val="231443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54777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54777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00" b="0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</a:rPr>
              <a:t>                                  DATA SOURCE                                                                                                                                   FOCUS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845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00" b="0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</a:rPr>
              <a:t>               TELECOM CUSTOMER DATASET (N=7,043)                                                         PREDICTIVE MODELING            RETENTION STRATEGY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lnSpc>
                <a:spcPct val="154777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lnSpc>
                <a:spcPct val="154777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lnSpc>
                <a:spcPct val="494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549830933" name="Google Shape;87;p1"/>
          <p:cNvGrpSpPr/>
          <p:nvPr/>
        </p:nvGrpSpPr>
        <p:grpSpPr bwMode="auto">
          <a:xfrm>
            <a:off x="3836175" y="4877151"/>
            <a:ext cx="7299971" cy="3635684"/>
            <a:chOff x="-37741" y="0"/>
            <a:chExt cx="1922613" cy="1003362"/>
          </a:xfrm>
        </p:grpSpPr>
        <p:sp>
          <p:nvSpPr>
            <p:cNvPr id="88" name="Google Shape;88;p1"/>
            <p:cNvSpPr/>
            <p:nvPr/>
          </p:nvSpPr>
          <p:spPr bwMode="auto">
            <a:xfrm>
              <a:off x="0" y="0"/>
              <a:ext cx="1884872" cy="874195"/>
            </a:xfrm>
            <a:custGeom>
              <a:avLst/>
              <a:gdLst/>
              <a:ahLst/>
              <a:cxnLst/>
              <a:rect l="l" t="t" r="r" b="b"/>
              <a:pathLst>
                <a:path w="1884872" h="874195" fill="norm" stroke="1" extrusionOk="0">
                  <a:moveTo>
                    <a:pt x="0" y="0"/>
                  </a:moveTo>
                  <a:lnTo>
                    <a:pt x="1884872" y="0"/>
                  </a:lnTo>
                  <a:lnTo>
                    <a:pt x="1884872" y="874195"/>
                  </a:lnTo>
                  <a:lnTo>
                    <a:pt x="0" y="874195"/>
                  </a:lnTo>
                  <a:close/>
                </a:path>
              </a:pathLst>
            </a:custGeom>
            <a:solidFill>
              <a:srgbClr val="0F0C09">
                <a:alpha val="88235"/>
              </a:srgbClr>
            </a:solidFill>
            <a:ln>
              <a:noFill/>
            </a:ln>
          </p:spPr>
        </p:sp>
        <p:sp>
          <p:nvSpPr>
            <p:cNvPr id="89" name="Google Shape;89;p1"/>
            <p:cNvSpPr txBox="1"/>
            <p:nvPr/>
          </p:nvSpPr>
          <p:spPr bwMode="auto">
            <a:xfrm>
              <a:off x="-37741" y="91062"/>
              <a:ext cx="1884900" cy="9122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1428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en-US" sz="1750" b="0" i="0" u="none" strike="noStrike" cap="none">
                  <a:solidFill>
                    <a:srgbClr val="F4D314"/>
                  </a:solidFill>
                  <a:latin typeface="Lora"/>
                  <a:ea typeface="Lora"/>
                  <a:cs typeface="Lora"/>
                </a:rPr>
                <a:t>OBJECTIVE: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  <a:p>
              <a:pPr marL="0" marR="0" lvl="0" indent="0" algn="just" rtl="0">
                <a:lnSpc>
                  <a:spcPct val="141515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en-US" sz="1650" b="0" i="0" u="none" strike="noStrike" cap="none">
                  <a:solidFill>
                    <a:srgbClr val="FEFEFE"/>
                  </a:solidFill>
                  <a:latin typeface="Lora"/>
                  <a:ea typeface="Lora"/>
                  <a:cs typeface="Lora"/>
                </a:rPr>
                <a:t>Predict which customers are likely to churn based on behavior, service usage, and demographics.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  <a:p>
              <a:pPr marL="0" marR="0" lvl="0" indent="0" algn="just" rtl="0">
                <a:lnSpc>
                  <a:spcPct val="141515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en-US" sz="1650" b="0" i="0" u="none" strike="noStrike" cap="none">
                  <a:solidFill>
                    <a:srgbClr val="FEFEFE"/>
                  </a:solidFill>
                  <a:latin typeface="Lora"/>
                  <a:ea typeface="Lora"/>
                  <a:cs typeface="Lora"/>
                </a:rPr>
                <a:t>Deliverables: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  <a:p>
              <a:pPr marL="360189" marR="0" lvl="1" indent="-180094" algn="just" rtl="0">
                <a:lnSpc>
                  <a:spcPct val="141515"/>
                </a:lnSpc>
                <a:spcBef>
                  <a:spcPts val="0"/>
                </a:spcBef>
                <a:spcAft>
                  <a:spcPts val="0"/>
                </a:spcAft>
                <a:buClr>
                  <a:srgbClr val="FEFEFE"/>
                </a:buClr>
                <a:buSzPts val="1650"/>
                <a:buFont typeface="Arial"/>
                <a:buChar char="•"/>
                <a:defRPr/>
              </a:pPr>
              <a:r>
                <a:rPr lang="en-US" sz="1650" b="0" i="0" u="none" strike="noStrike" cap="none">
                  <a:solidFill>
                    <a:srgbClr val="FEFEFE"/>
                  </a:solidFill>
                  <a:latin typeface="Lora"/>
                  <a:ea typeface="Lora"/>
                  <a:cs typeface="Lora"/>
                </a:rPr>
                <a:t>Churn prediction model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  <a:p>
              <a:pPr marL="360189" marR="0" lvl="1" indent="-180094" algn="just" rtl="0">
                <a:lnSpc>
                  <a:spcPct val="141515"/>
                </a:lnSpc>
                <a:spcBef>
                  <a:spcPts val="0"/>
                </a:spcBef>
                <a:spcAft>
                  <a:spcPts val="0"/>
                </a:spcAft>
                <a:buClr>
                  <a:srgbClr val="FEFEFE"/>
                </a:buClr>
                <a:buSzPts val="1650"/>
                <a:buFont typeface="Arial"/>
                <a:buChar char="•"/>
                <a:defRPr/>
              </a:pPr>
              <a:r>
                <a:rPr lang="en-US" sz="1650" b="0" i="0" u="none" strike="noStrike" cap="none">
                  <a:solidFill>
                    <a:srgbClr val="FEFEFE"/>
                  </a:solidFill>
                  <a:latin typeface="Lora"/>
                  <a:ea typeface="Lora"/>
                  <a:cs typeface="Lora"/>
                </a:rPr>
                <a:t>Key churn drivers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  <a:p>
              <a:pPr marL="360189" marR="0" lvl="1" indent="-180094" algn="just" rtl="0">
                <a:lnSpc>
                  <a:spcPct val="141515"/>
                </a:lnSpc>
                <a:spcBef>
                  <a:spcPts val="0"/>
                </a:spcBef>
                <a:spcAft>
                  <a:spcPts val="0"/>
                </a:spcAft>
                <a:buClr>
                  <a:srgbClr val="FEFEFE"/>
                </a:buClr>
                <a:buSzPts val="1650"/>
                <a:buFont typeface="Arial"/>
                <a:buChar char="•"/>
                <a:defRPr/>
              </a:pPr>
              <a:r>
                <a:rPr lang="en-US" sz="1650" b="0" i="0" u="none" strike="noStrike" cap="none">
                  <a:solidFill>
                    <a:srgbClr val="FEFEFE"/>
                  </a:solidFill>
                  <a:latin typeface="Lora"/>
                  <a:ea typeface="Lora"/>
                  <a:cs typeface="Lora"/>
                </a:rPr>
                <a:t>Retention strategy recommendations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  <a:p>
              <a:pPr marL="0" marR="0" lvl="0" indent="0" algn="just" rtl="0">
                <a:lnSpc>
                  <a:spcPct val="153055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  <a:p>
              <a:pPr marL="0" marR="0" lvl="0" indent="0" algn="ctr" rtl="0">
                <a:lnSpc>
                  <a:spcPct val="191944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793527518" name="Google Shape;90;p1"/>
          <p:cNvSpPr txBox="1"/>
          <p:nvPr/>
        </p:nvSpPr>
        <p:spPr bwMode="auto">
          <a:xfrm>
            <a:off x="4953633" y="1547630"/>
            <a:ext cx="8380734" cy="2473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93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600" b="0" i="0" u="none" strike="noStrike" cap="none">
                <a:solidFill>
                  <a:srgbClr val="F4D314"/>
                </a:solidFill>
                <a:latin typeface="Arial"/>
                <a:ea typeface="Arial"/>
                <a:cs typeface="Arial"/>
              </a:rPr>
              <a:t>CUSTOMER CHURN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lnSpc>
                <a:spcPct val="14493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600" b="0" i="0" u="none" strike="noStrike" cap="none">
                <a:solidFill>
                  <a:srgbClr val="F4D314"/>
                </a:solidFill>
                <a:latin typeface="Arial"/>
                <a:ea typeface="Arial"/>
                <a:cs typeface="Arial"/>
              </a:rPr>
              <a:t>PREDICTION ANALYSIS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lnSpc>
                <a:spcPct val="37038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660403" name="Google Shape;91;p1"/>
          <p:cNvSpPr txBox="1"/>
          <p:nvPr/>
        </p:nvSpPr>
        <p:spPr bwMode="auto">
          <a:xfrm>
            <a:off x="6511957" y="990600"/>
            <a:ext cx="5264084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PRESENTATION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0675175" name="Google Shape;97;p2"/>
          <p:cNvSpPr/>
          <p:nvPr/>
        </p:nvSpPr>
        <p:spPr bwMode="auto"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 l="0" t="-9221" r="0" b="-9218"/>
            </a:stretch>
          </a:blipFill>
          <a:ln>
            <a:noFill/>
          </a:ln>
        </p:spPr>
      </p:sp>
      <p:grpSp>
        <p:nvGrpSpPr>
          <p:cNvPr id="2111186891" name="Google Shape;98;p2"/>
          <p:cNvGrpSpPr/>
          <p:nvPr/>
        </p:nvGrpSpPr>
        <p:grpSpPr bwMode="auto">
          <a:xfrm>
            <a:off x="2006903" y="3885533"/>
            <a:ext cx="2624131" cy="2716386"/>
            <a:chOff x="0" y="-28575"/>
            <a:chExt cx="812800" cy="841375"/>
          </a:xfrm>
        </p:grpSpPr>
        <p:sp>
          <p:nvSpPr>
            <p:cNvPr id="99" name="Google Shape;99;p2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D3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0" name="Google Shape;100;p2"/>
            <p:cNvSpPr txBox="1"/>
            <p:nvPr/>
          </p:nvSpPr>
          <p:spPr bwMode="auto">
            <a:xfrm>
              <a:off x="76200" y="-28575"/>
              <a:ext cx="660400" cy="7651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4979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en-US" sz="48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7,043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1549785267" name="Google Shape;101;p2"/>
          <p:cNvGrpSpPr/>
          <p:nvPr/>
        </p:nvGrpSpPr>
        <p:grpSpPr bwMode="auto">
          <a:xfrm>
            <a:off x="9671159" y="3885533"/>
            <a:ext cx="2624131" cy="2716386"/>
            <a:chOff x="0" y="-28575"/>
            <a:chExt cx="812800" cy="841375"/>
          </a:xfrm>
        </p:grpSpPr>
        <p:sp>
          <p:nvSpPr>
            <p:cNvPr id="102" name="Google Shape;102;p2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D3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3" name="Google Shape;103;p2"/>
            <p:cNvSpPr txBox="1"/>
            <p:nvPr/>
          </p:nvSpPr>
          <p:spPr bwMode="auto">
            <a:xfrm>
              <a:off x="76200" y="-28575"/>
              <a:ext cx="660400" cy="7651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4979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en-US" sz="48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99.8%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757536502" name="Google Shape;104;p2"/>
          <p:cNvGrpSpPr/>
          <p:nvPr/>
        </p:nvGrpSpPr>
        <p:grpSpPr bwMode="auto">
          <a:xfrm>
            <a:off x="5839031" y="3885533"/>
            <a:ext cx="2624131" cy="2716386"/>
            <a:chOff x="0" y="-28575"/>
            <a:chExt cx="812800" cy="841375"/>
          </a:xfrm>
        </p:grpSpPr>
        <p:sp>
          <p:nvSpPr>
            <p:cNvPr id="105" name="Google Shape;105;p2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D3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6" name="Google Shape;106;p2"/>
            <p:cNvSpPr txBox="1"/>
            <p:nvPr/>
          </p:nvSpPr>
          <p:spPr bwMode="auto">
            <a:xfrm>
              <a:off x="76200" y="-28575"/>
              <a:ext cx="660400" cy="7651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4979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en-US" sz="48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22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665292320" name="Google Shape;107;p2"/>
          <p:cNvSpPr txBox="1"/>
          <p:nvPr/>
        </p:nvSpPr>
        <p:spPr bwMode="auto">
          <a:xfrm>
            <a:off x="9613966" y="1463664"/>
            <a:ext cx="6715709" cy="152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496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 b="0" i="0" u="none" strike="noStrike" cap="none">
                <a:solidFill>
                  <a:srgbClr val="F4D314"/>
                </a:solidFill>
                <a:latin typeface="Arial"/>
                <a:ea typeface="Arial"/>
                <a:cs typeface="Arial"/>
              </a:rPr>
              <a:t>COMPREHENSIVE ANALYSIS OF CUSTOMER BEHAVIOR, AND SERVICE USAGE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698954" name="Google Shape;108;p2"/>
          <p:cNvSpPr txBox="1"/>
          <p:nvPr/>
        </p:nvSpPr>
        <p:spPr bwMode="auto">
          <a:xfrm>
            <a:off x="1958325" y="570975"/>
            <a:ext cx="69642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600" b="1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</a:rPr>
              <a:t>DATA SET OVERVIEW</a:t>
            </a:r>
            <a:endParaRPr sz="3200" b="1" i="0" u="none" strike="noStrike" cap="none">
              <a:solidFill>
                <a:schemeClr val="dk1"/>
              </a:solidFill>
              <a:latin typeface="Lora"/>
              <a:ea typeface="Lora"/>
              <a:cs typeface="Lora"/>
            </a:endParaRPr>
          </a:p>
        </p:txBody>
      </p:sp>
      <p:sp>
        <p:nvSpPr>
          <p:cNvPr id="382148341" name="Google Shape;109;p2"/>
          <p:cNvSpPr txBox="1"/>
          <p:nvPr/>
        </p:nvSpPr>
        <p:spPr bwMode="auto">
          <a:xfrm>
            <a:off x="1981217" y="7159820"/>
            <a:ext cx="2675503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0" i="0" u="none" strike="noStrike" cap="none">
                <a:solidFill>
                  <a:srgbClr val="F4D314"/>
                </a:solidFill>
                <a:latin typeface="Arial"/>
                <a:ea typeface="Arial"/>
                <a:cs typeface="Arial"/>
              </a:rPr>
              <a:t>TOTAL CUSTOMERS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95774745" name="Google Shape;110;p2"/>
          <p:cNvSpPr txBox="1"/>
          <p:nvPr/>
        </p:nvSpPr>
        <p:spPr bwMode="auto">
          <a:xfrm>
            <a:off x="9613966" y="7144898"/>
            <a:ext cx="2675503" cy="278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900" b="0" i="0" u="none" strike="noStrike" cap="none">
                <a:solidFill>
                  <a:srgbClr val="F4D314"/>
                </a:solidFill>
                <a:latin typeface="Arial"/>
                <a:ea typeface="Arial"/>
                <a:cs typeface="Arial"/>
              </a:rPr>
              <a:t>DATA COMPLETENESS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788499" name="Google Shape;111;p2"/>
          <p:cNvSpPr txBox="1"/>
          <p:nvPr/>
        </p:nvSpPr>
        <p:spPr bwMode="auto">
          <a:xfrm>
            <a:off x="5632698" y="7144898"/>
            <a:ext cx="3036798" cy="33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300" b="0" i="0" u="none" strike="noStrike" cap="none">
                <a:solidFill>
                  <a:srgbClr val="F4D314"/>
                </a:solidFill>
                <a:latin typeface="Arial"/>
                <a:ea typeface="Arial"/>
                <a:cs typeface="Arial"/>
              </a:rPr>
              <a:t>ATTRIBUTES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28336868" name="Google Shape;112;p2"/>
          <p:cNvSpPr txBox="1"/>
          <p:nvPr/>
        </p:nvSpPr>
        <p:spPr bwMode="auto">
          <a:xfrm>
            <a:off x="13632821" y="3789197"/>
            <a:ext cx="3519744" cy="362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42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50" b="0" i="0" u="none" strike="noStrike" cap="none">
                <a:solidFill>
                  <a:srgbClr val="F4D314"/>
                </a:solidFill>
                <a:latin typeface="Arial"/>
                <a:ea typeface="Arial"/>
                <a:cs typeface="Arial"/>
              </a:rPr>
              <a:t>CHURN STATUS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1077623" name="Google Shape;113;p2"/>
          <p:cNvSpPr txBox="1"/>
          <p:nvPr/>
        </p:nvSpPr>
        <p:spPr bwMode="auto">
          <a:xfrm>
            <a:off x="5473394" y="7678344"/>
            <a:ext cx="3355404" cy="229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172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Demographics   Services    Billing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91376383" name="Google Shape;114;p2"/>
          <p:cNvSpPr txBox="1"/>
          <p:nvPr/>
        </p:nvSpPr>
        <p:spPr bwMode="auto">
          <a:xfrm>
            <a:off x="1958325" y="7660864"/>
            <a:ext cx="2698394" cy="26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Unique customer records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57531289" name="Google Shape;115;p2"/>
          <p:cNvSpPr txBox="1"/>
          <p:nvPr/>
        </p:nvSpPr>
        <p:spPr bwMode="auto">
          <a:xfrm>
            <a:off x="9144000" y="7624276"/>
            <a:ext cx="3633002" cy="221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857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Only 11 rows missing (Total Charges)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8775809" name="Google Shape;116;p2"/>
          <p:cNvSpPr txBox="1"/>
          <p:nvPr/>
        </p:nvSpPr>
        <p:spPr bwMode="auto">
          <a:xfrm>
            <a:off x="14012570" y="4291700"/>
            <a:ext cx="2698394" cy="54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Binary Classification Values: Yes/ NO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07675190" name="Google Shape;117;p2"/>
          <p:cNvSpPr txBox="1"/>
          <p:nvPr/>
        </p:nvSpPr>
        <p:spPr bwMode="auto">
          <a:xfrm>
            <a:off x="13817268" y="5153024"/>
            <a:ext cx="3555713" cy="72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428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500" b="0" i="0" u="none" strike="noStrike" cap="none">
                <a:solidFill>
                  <a:srgbClr val="F4D314"/>
                </a:solidFill>
                <a:latin typeface="Arial"/>
                <a:ea typeface="Arial"/>
                <a:cs typeface="Arial"/>
              </a:rPr>
              <a:t>KEY FEATURES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lnSpc>
                <a:spcPct val="158722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5341256" name="Google Shape;118;p2"/>
          <p:cNvSpPr txBox="1"/>
          <p:nvPr/>
        </p:nvSpPr>
        <p:spPr bwMode="auto">
          <a:xfrm>
            <a:off x="12971820" y="5722272"/>
            <a:ext cx="4789699" cy="274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08051" marR="0" lvl="1" indent="-204025" algn="ctr" rtl="0">
              <a:lnSpc>
                <a:spcPct val="1293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Char char="•"/>
              <a:defRPr/>
            </a:pPr>
            <a:r>
              <a:rPr lang="en-US" sz="1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900" b="0" i="0" u="none" strike="noStrike" cap="none">
                <a:solidFill>
                  <a:srgbClr val="F4D314"/>
                </a:solidFill>
                <a:latin typeface="Arial"/>
                <a:ea typeface="Arial"/>
                <a:cs typeface="Arial"/>
              </a:rPr>
              <a:t>Customer Demographics</a:t>
            </a:r>
            <a:r>
              <a:rPr lang="en-US" sz="1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 (gender, senior citizen, dependents)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408051" marR="0" lvl="1" indent="-204025" algn="ctr" rtl="0">
              <a:lnSpc>
                <a:spcPct val="129315"/>
              </a:lnSpc>
              <a:spcBef>
                <a:spcPts val="0"/>
              </a:spcBef>
              <a:spcAft>
                <a:spcPts val="0"/>
              </a:spcAft>
              <a:buClr>
                <a:srgbClr val="F4D314"/>
              </a:buClr>
              <a:buSzPts val="1900"/>
              <a:buFont typeface="Arial"/>
              <a:buChar char="•"/>
              <a:defRPr/>
            </a:pPr>
            <a:r>
              <a:rPr lang="en-US" sz="1900" b="0" i="0" u="none" strike="noStrike" cap="none">
                <a:solidFill>
                  <a:srgbClr val="F4D314"/>
                </a:solidFill>
                <a:latin typeface="Arial"/>
                <a:ea typeface="Arial"/>
                <a:cs typeface="Arial"/>
              </a:rPr>
              <a:t>Service Usage</a:t>
            </a:r>
            <a:r>
              <a:rPr lang="en-US" sz="1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 (phone, internet, security, backup, streaming)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408051" marR="0" lvl="1" indent="-204025" algn="ctr" rtl="0">
              <a:lnSpc>
                <a:spcPct val="129315"/>
              </a:lnSpc>
              <a:spcBef>
                <a:spcPts val="0"/>
              </a:spcBef>
              <a:spcAft>
                <a:spcPts val="0"/>
              </a:spcAft>
              <a:buClr>
                <a:srgbClr val="F4D314"/>
              </a:buClr>
              <a:buSzPts val="1900"/>
              <a:buFont typeface="Arial"/>
              <a:buChar char="•"/>
              <a:defRPr/>
            </a:pPr>
            <a:r>
              <a:rPr lang="en-US" sz="1900" b="0" i="0" u="none" strike="noStrike" cap="none">
                <a:solidFill>
                  <a:srgbClr val="F4D314"/>
                </a:solidFill>
                <a:latin typeface="Arial"/>
                <a:ea typeface="Arial"/>
                <a:cs typeface="Arial"/>
              </a:rPr>
              <a:t>  Billing Information</a:t>
            </a:r>
            <a:r>
              <a:rPr lang="en-US" sz="1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 (MonthlyCharges,    TotalCharges)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408051" marR="0" lvl="1" indent="-204025" algn="ctr" rtl="0">
              <a:lnSpc>
                <a:spcPct val="129315"/>
              </a:lnSpc>
              <a:spcBef>
                <a:spcPts val="0"/>
              </a:spcBef>
              <a:spcAft>
                <a:spcPts val="0"/>
              </a:spcAft>
              <a:buClr>
                <a:srgbClr val="F4D314"/>
              </a:buClr>
              <a:buSzPts val="1900"/>
              <a:buFont typeface="Arial"/>
              <a:buChar char="•"/>
              <a:defRPr/>
            </a:pPr>
            <a:r>
              <a:rPr lang="en-US" sz="1900" b="0" i="0" u="none" strike="noStrike" cap="none">
                <a:solidFill>
                  <a:srgbClr val="F4D314"/>
                </a:solidFill>
                <a:latin typeface="Arial"/>
                <a:ea typeface="Arial"/>
                <a:cs typeface="Arial"/>
              </a:rPr>
              <a:t> Subscription Details</a:t>
            </a:r>
            <a:r>
              <a:rPr lang="en-US" sz="1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 (contract type, payment method)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lnSpc>
                <a:spcPct val="1365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9840198" name="Google Shape;124;p3"/>
          <p:cNvSpPr/>
          <p:nvPr/>
        </p:nvSpPr>
        <p:spPr bwMode="auto"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 l="0" t="-9221" r="0" b="-9218"/>
            </a:stretch>
          </a:blipFill>
          <a:ln>
            <a:noFill/>
          </a:ln>
        </p:spPr>
      </p:sp>
      <p:sp>
        <p:nvSpPr>
          <p:cNvPr id="1140277191" name="Google Shape;125;p3"/>
          <p:cNvSpPr txBox="1"/>
          <p:nvPr/>
        </p:nvSpPr>
        <p:spPr bwMode="auto">
          <a:xfrm>
            <a:off x="1014452" y="5734301"/>
            <a:ext cx="6636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496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 b="0" i="0" u="none" strike="noStrike" cap="none">
                <a:solidFill>
                  <a:srgbClr val="F4D314"/>
                </a:solidFill>
                <a:latin typeface="Arial"/>
                <a:ea typeface="Arial"/>
                <a:cs typeface="Arial"/>
              </a:rPr>
              <a:t>ANALYSIS USING THE GIVEN POINTS: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83313814" name="Google Shape;126;p3"/>
          <p:cNvSpPr txBox="1"/>
          <p:nvPr/>
        </p:nvSpPr>
        <p:spPr bwMode="auto">
          <a:xfrm>
            <a:off x="1164025" y="143445"/>
            <a:ext cx="6910500" cy="54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63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300" b="1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</a:rPr>
              <a:t>BEFORE MOVING FORWARD A QUICK ANALYSIS OF THE DATA SET</a:t>
            </a:r>
            <a:endParaRPr sz="6300" i="0" u="none" strike="noStrike" cap="none">
              <a:solidFill>
                <a:schemeClr val="dk1"/>
              </a:solidFill>
              <a:latin typeface="Lora"/>
              <a:ea typeface="Lora"/>
              <a:cs typeface="Lora"/>
            </a:endParaRPr>
          </a:p>
        </p:txBody>
      </p:sp>
      <p:sp>
        <p:nvSpPr>
          <p:cNvPr id="1667681990" name="Google Shape;127;p3"/>
          <p:cNvSpPr txBox="1"/>
          <p:nvPr/>
        </p:nvSpPr>
        <p:spPr bwMode="auto">
          <a:xfrm>
            <a:off x="5504832" y="6323272"/>
            <a:ext cx="2698394" cy="141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26107" marR="0" lvl="1" indent="-313054" algn="ctr" rtl="0">
              <a:lnSpc>
                <a:spcPct val="1299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Char char="•"/>
              <a:defRPr/>
            </a:pPr>
            <a:r>
              <a:rPr lang="en-US" sz="2900" b="0" i="0" u="none" strike="noStrike" cap="none">
                <a:solidFill>
                  <a:srgbClr val="FFFFFF"/>
                </a:solidFill>
                <a:latin typeface="Faustina"/>
                <a:ea typeface="Faustina"/>
                <a:cs typeface="Faustina"/>
              </a:rPr>
              <a:t>Payment Method Analysis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2741839" name="Google Shape;128;p3"/>
          <p:cNvSpPr txBox="1"/>
          <p:nvPr/>
        </p:nvSpPr>
        <p:spPr bwMode="auto">
          <a:xfrm>
            <a:off x="1661258" y="6323272"/>
            <a:ext cx="2698394" cy="141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26107" marR="0" lvl="1" indent="-313054" algn="ctr" rtl="0">
              <a:lnSpc>
                <a:spcPct val="1299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Char char="•"/>
              <a:defRPr/>
            </a:pPr>
            <a:r>
              <a:rPr lang="en-US" sz="2900" b="0" i="0" u="none" strike="noStrike" cap="none">
                <a:solidFill>
                  <a:srgbClr val="FFFFFF"/>
                </a:solidFill>
                <a:latin typeface="Faustina"/>
                <a:ea typeface="Faustina"/>
                <a:cs typeface="Faustina"/>
              </a:rPr>
              <a:t>Contract Type Analysis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45450752" name="Google Shape;129;p3"/>
          <p:cNvSpPr txBox="1"/>
          <p:nvPr/>
        </p:nvSpPr>
        <p:spPr bwMode="auto">
          <a:xfrm>
            <a:off x="9332883" y="6323272"/>
            <a:ext cx="2698394" cy="141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26107" marR="0" lvl="1" indent="-313054" algn="ctr" rtl="0">
              <a:lnSpc>
                <a:spcPct val="1299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Char char="•"/>
              <a:defRPr/>
            </a:pPr>
            <a:r>
              <a:rPr lang="en-US" sz="2900" b="0" i="0" u="none" strike="noStrike" cap="none">
                <a:solidFill>
                  <a:srgbClr val="FFFFFF"/>
                </a:solidFill>
                <a:latin typeface="Faustina"/>
                <a:ea typeface="Faustina"/>
                <a:cs typeface="Faustina"/>
              </a:rPr>
              <a:t>Internet Type Service Impact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23786694" name="Google Shape;130;p3"/>
          <p:cNvSpPr txBox="1"/>
          <p:nvPr/>
        </p:nvSpPr>
        <p:spPr bwMode="auto">
          <a:xfrm>
            <a:off x="13131957" y="6323272"/>
            <a:ext cx="3781817" cy="141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26107" marR="0" lvl="1" indent="-313054" algn="ctr" rtl="0">
              <a:lnSpc>
                <a:spcPct val="1299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Char char="•"/>
              <a:defRPr/>
            </a:pPr>
            <a:r>
              <a:rPr lang="en-US" sz="2900" b="0" i="0" u="none" strike="noStrike" cap="none">
                <a:solidFill>
                  <a:srgbClr val="FFFFFF"/>
                </a:solidFill>
                <a:latin typeface="Faustina"/>
                <a:ea typeface="Faustina"/>
                <a:cs typeface="Faustina"/>
              </a:rPr>
              <a:t>Demographics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lnSpc>
                <a:spcPct val="12996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900" b="0" i="0" u="none" strike="noStrike" cap="none">
                <a:solidFill>
                  <a:srgbClr val="FFFFFF"/>
                </a:solidFill>
                <a:latin typeface="Faustina"/>
                <a:ea typeface="Faustina"/>
                <a:cs typeface="Faustina"/>
              </a:rPr>
              <a:t>     &amp;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lnSpc>
                <a:spcPct val="12996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900" b="0" i="0" u="none" strike="noStrike" cap="none">
                <a:solidFill>
                  <a:srgbClr val="FFFFFF"/>
                </a:solidFill>
                <a:latin typeface="Faustina"/>
                <a:ea typeface="Faustina"/>
                <a:cs typeface="Faustina"/>
              </a:rPr>
              <a:t>          Billing Insights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9464710" name="Google Shape;136;p4"/>
          <p:cNvSpPr/>
          <p:nvPr/>
        </p:nvSpPr>
        <p:spPr bwMode="auto">
          <a:xfrm>
            <a:off x="-527750" y="0"/>
            <a:ext cx="18836640" cy="12935903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 l="0" t="-83411" r="0" b="-83411"/>
            </a:stretch>
          </a:blipFill>
          <a:ln>
            <a:noFill/>
          </a:ln>
        </p:spPr>
      </p:sp>
      <p:sp>
        <p:nvSpPr>
          <p:cNvPr id="720779999" name="Google Shape;137;p4"/>
          <p:cNvSpPr/>
          <p:nvPr/>
        </p:nvSpPr>
        <p:spPr bwMode="auto">
          <a:xfrm>
            <a:off x="-527745" y="3894867"/>
            <a:ext cx="9043427" cy="90434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>
            <a:blip r:embed="rId4">
              <a:alphaModFix/>
            </a:blip>
            <a:stretch>
              <a:fillRect l="0" t="-49810" r="0" b="0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15822376" name="Google Shape;138;p4"/>
          <p:cNvSpPr txBox="1"/>
          <p:nvPr/>
        </p:nvSpPr>
        <p:spPr bwMode="auto">
          <a:xfrm>
            <a:off x="1934399" y="906902"/>
            <a:ext cx="9332700" cy="28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7200" b="1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</a:rPr>
              <a:t>CONTRACT  TYPE ANALYSIS</a:t>
            </a:r>
            <a:endParaRPr sz="7200" b="1" i="0" u="none" strike="noStrike" cap="none">
              <a:solidFill>
                <a:schemeClr val="dk1"/>
              </a:solidFill>
              <a:latin typeface="Lora"/>
              <a:ea typeface="Lora"/>
              <a:cs typeface="Lora"/>
            </a:endParaRPr>
          </a:p>
          <a:p>
            <a:pPr marL="0" marR="0" lvl="0" indent="0" algn="l" rtl="0">
              <a:lnSpc>
                <a:spcPct val="52294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31818950" name="Google Shape;139;p4"/>
          <p:cNvSpPr/>
          <p:nvPr/>
        </p:nvSpPr>
        <p:spPr bwMode="auto">
          <a:xfrm>
            <a:off x="917413" y="4167826"/>
            <a:ext cx="7841344" cy="5843206"/>
          </a:xfrm>
          <a:custGeom>
            <a:avLst/>
            <a:gdLst/>
            <a:ahLst/>
            <a:cxnLst/>
            <a:rect l="l" t="t" r="r" b="b"/>
            <a:pathLst>
              <a:path w="7841344" h="5843206" fill="norm" stroke="1" extrusionOk="0">
                <a:moveTo>
                  <a:pt x="0" y="0"/>
                </a:moveTo>
                <a:lnTo>
                  <a:pt x="7841344" y="0"/>
                </a:lnTo>
                <a:lnTo>
                  <a:pt x="7841344" y="5843206"/>
                </a:lnTo>
                <a:lnTo>
                  <a:pt x="0" y="5843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2000"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683091905" name="Google Shape;140;p4"/>
          <p:cNvSpPr txBox="1"/>
          <p:nvPr/>
        </p:nvSpPr>
        <p:spPr bwMode="auto">
          <a:xfrm>
            <a:off x="12587178" y="906898"/>
            <a:ext cx="4200300" cy="313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102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50" b="0" i="0" u="none" strike="noStrike" cap="none">
                <a:solidFill>
                  <a:srgbClr val="F4D314"/>
                </a:solidFill>
                <a:latin typeface="Arial"/>
                <a:ea typeface="Arial"/>
                <a:cs typeface="Arial"/>
              </a:rPr>
              <a:t>Contract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Month-to-month             3875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Two year                        1695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year                         1473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80902884" name="Google Shape;141;p4"/>
          <p:cNvSpPr txBox="1"/>
          <p:nvPr/>
        </p:nvSpPr>
        <p:spPr bwMode="auto">
          <a:xfrm>
            <a:off x="9418750" y="4070462"/>
            <a:ext cx="6214500" cy="35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102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50" b="0" i="0" u="none" strike="noStrike" cap="none">
                <a:solidFill>
                  <a:srgbClr val="F4D314"/>
                </a:solidFill>
                <a:latin typeface="Lora"/>
                <a:ea typeface="Lora"/>
                <a:cs typeface="Lora"/>
              </a:rPr>
              <a:t>CHURN RATE :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9194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4102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50" b="0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</a:rPr>
              <a:t>MONTHLY    -   High Risk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9194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4102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50" b="0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</a:rPr>
              <a:t>ONE YEAR    -   Medium Risk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9194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4102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50" b="0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</a:rPr>
              <a:t>TWO YEAR   -  Low Risk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50915607" name="Google Shape;142;p4"/>
          <p:cNvSpPr txBox="1"/>
          <p:nvPr/>
        </p:nvSpPr>
        <p:spPr bwMode="auto">
          <a:xfrm>
            <a:off x="9418750" y="8141877"/>
            <a:ext cx="7705500" cy="1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102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50" b="0" i="0" u="none" strike="noStrike" cap="none">
                <a:solidFill>
                  <a:srgbClr val="F4D314"/>
                </a:solidFill>
                <a:latin typeface="Lora"/>
                <a:ea typeface="Lora"/>
                <a:cs typeface="Lora"/>
              </a:rPr>
              <a:t>Strategic Action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4102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50" b="0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</a:rPr>
              <a:t>Incentive migration from Month-to-Month plans.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9194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424943" name="Google Shape;148;p5"/>
          <p:cNvSpPr/>
          <p:nvPr/>
        </p:nvSpPr>
        <p:spPr bwMode="auto">
          <a:xfrm flipH="0" flipV="0">
            <a:off x="0" y="-32288"/>
            <a:ext cx="19339560" cy="12921945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 l="0" t="-83411" r="0" b="-83411"/>
            </a:stretch>
          </a:blipFill>
          <a:ln>
            <a:noFill/>
          </a:ln>
        </p:spPr>
      </p:sp>
      <p:sp>
        <p:nvSpPr>
          <p:cNvPr id="395002883" name="Google Shape;149;p5"/>
          <p:cNvSpPr/>
          <p:nvPr/>
        </p:nvSpPr>
        <p:spPr bwMode="auto">
          <a:xfrm>
            <a:off x="10470272" y="3894867"/>
            <a:ext cx="9043427" cy="90434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>
            <a:blip r:embed="rId4">
              <a:alphaModFix/>
            </a:blip>
            <a:stretch>
              <a:fillRect l="-25045" t="0" r="-25042" b="0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2552401" name="Google Shape;150;p5"/>
          <p:cNvSpPr/>
          <p:nvPr/>
        </p:nvSpPr>
        <p:spPr bwMode="auto">
          <a:xfrm>
            <a:off x="8932677" y="1181178"/>
            <a:ext cx="8350572" cy="6211454"/>
          </a:xfrm>
          <a:custGeom>
            <a:avLst/>
            <a:gdLst/>
            <a:ahLst/>
            <a:cxnLst/>
            <a:rect l="l" t="t" r="r" b="b"/>
            <a:pathLst>
              <a:path w="8350573" h="6211454" fill="norm" stroke="1" extrusionOk="0">
                <a:moveTo>
                  <a:pt x="0" y="0"/>
                </a:moveTo>
                <a:lnTo>
                  <a:pt x="8350573" y="0"/>
                </a:lnTo>
                <a:lnTo>
                  <a:pt x="8350573" y="6211454"/>
                </a:lnTo>
                <a:lnTo>
                  <a:pt x="0" y="62114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6000"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949117320" name="Google Shape;151;p5"/>
          <p:cNvSpPr txBox="1"/>
          <p:nvPr/>
        </p:nvSpPr>
        <p:spPr bwMode="auto">
          <a:xfrm>
            <a:off x="1138767" y="348847"/>
            <a:ext cx="6708600" cy="3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300" b="1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</a:rPr>
              <a:t>PAYMENT METHOD ANALYSIS</a:t>
            </a:r>
            <a:endParaRPr sz="6300" b="1" i="0" u="none" strike="noStrike" cap="none">
              <a:solidFill>
                <a:schemeClr val="dk1"/>
              </a:solidFill>
              <a:latin typeface="Lora"/>
              <a:ea typeface="Lora"/>
              <a:cs typeface="Lora"/>
            </a:endParaRPr>
          </a:p>
        </p:txBody>
      </p:sp>
      <p:sp>
        <p:nvSpPr>
          <p:cNvPr id="306247248" name="Google Shape;152;p5"/>
          <p:cNvSpPr txBox="1"/>
          <p:nvPr/>
        </p:nvSpPr>
        <p:spPr bwMode="auto">
          <a:xfrm>
            <a:off x="1339985" y="3936070"/>
            <a:ext cx="5531510" cy="263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53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 b="0" i="0" u="none" strike="noStrike" cap="none">
                <a:solidFill>
                  <a:srgbClr val="F4D314"/>
                </a:solidFill>
                <a:latin typeface="Arial"/>
                <a:ea typeface="Arial"/>
                <a:cs typeface="Arial"/>
              </a:rPr>
              <a:t>HIGH RISK CHANNEL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27277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1454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</a:rPr>
              <a:t>Electronic Check </a:t>
            </a:r>
            <a:r>
              <a:rPr lang="en-US" sz="2000" b="0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</a:rPr>
              <a:t>users represent the highest churn risk group. Nearly half of these customers leave, significantly higher than automatic payment methods.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78166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78166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9246704" name="Google Shape;153;p5"/>
          <p:cNvSpPr txBox="1"/>
          <p:nvPr/>
        </p:nvSpPr>
        <p:spPr bwMode="auto">
          <a:xfrm>
            <a:off x="1339985" y="6385013"/>
            <a:ext cx="3763800" cy="14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Electronic Check       :        High Risk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Mailed Check            :        Medium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Credit Card (Auto)     :        Low Risk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8411216" name="Google Shape;154;p5"/>
          <p:cNvSpPr txBox="1"/>
          <p:nvPr/>
        </p:nvSpPr>
        <p:spPr bwMode="auto">
          <a:xfrm>
            <a:off x="1341065" y="7665525"/>
            <a:ext cx="6506081" cy="1254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1106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350" b="0" i="0" u="none" strike="noStrike" cap="none">
                <a:solidFill>
                  <a:srgbClr val="F4D314"/>
                </a:solidFill>
                <a:latin typeface="Arial"/>
                <a:ea typeface="Arial"/>
                <a:cs typeface="Arial"/>
              </a:rPr>
              <a:t>Strategic Action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41106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3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Migrate Electronic Check users to Autopay.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84222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037333" name="Google Shape;160;p6"/>
          <p:cNvSpPr/>
          <p:nvPr/>
        </p:nvSpPr>
        <p:spPr bwMode="auto"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 l="0" t="-9221" r="0" b="-9218"/>
            </a:stretch>
          </a:blipFill>
          <a:ln>
            <a:noFill/>
          </a:ln>
        </p:spPr>
      </p:sp>
      <p:sp>
        <p:nvSpPr>
          <p:cNvPr id="343993582" name="Google Shape;161;p6"/>
          <p:cNvSpPr/>
          <p:nvPr/>
        </p:nvSpPr>
        <p:spPr bwMode="auto">
          <a:xfrm>
            <a:off x="9992706" y="1028700"/>
            <a:ext cx="7266594" cy="5402337"/>
          </a:xfrm>
          <a:custGeom>
            <a:avLst/>
            <a:gdLst/>
            <a:ahLst/>
            <a:cxnLst/>
            <a:rect l="l" t="t" r="r" b="b"/>
            <a:pathLst>
              <a:path w="7266594" h="5402337" fill="norm" stroke="1" extrusionOk="0">
                <a:moveTo>
                  <a:pt x="0" y="0"/>
                </a:moveTo>
                <a:lnTo>
                  <a:pt x="7266594" y="0"/>
                </a:lnTo>
                <a:lnTo>
                  <a:pt x="7266594" y="5402337"/>
                </a:lnTo>
                <a:lnTo>
                  <a:pt x="0" y="54023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4000"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943226421" name="Google Shape;162;p6"/>
          <p:cNvSpPr txBox="1"/>
          <p:nvPr/>
        </p:nvSpPr>
        <p:spPr bwMode="auto">
          <a:xfrm>
            <a:off x="1247606" y="686943"/>
            <a:ext cx="7657200" cy="33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7200" b="1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</a:rPr>
              <a:t>INTERNET TYPE SERVICE IMPACT</a:t>
            </a:r>
            <a:endParaRPr sz="7200" b="1" i="0" u="none" strike="noStrike" cap="none">
              <a:solidFill>
                <a:schemeClr val="dk1"/>
              </a:solidFill>
              <a:latin typeface="Lora"/>
              <a:ea typeface="Lora"/>
              <a:cs typeface="Lora"/>
            </a:endParaRPr>
          </a:p>
        </p:txBody>
      </p:sp>
      <p:sp>
        <p:nvSpPr>
          <p:cNvPr id="1253084802" name="Google Shape;163;p6"/>
          <p:cNvSpPr txBox="1"/>
          <p:nvPr/>
        </p:nvSpPr>
        <p:spPr bwMode="auto">
          <a:xfrm>
            <a:off x="1248382" y="4420649"/>
            <a:ext cx="7655700" cy="35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9743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3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Fiber Optic</a:t>
            </a:r>
            <a:r>
              <a:rPr lang="en-US" sz="23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 customers show significantly higher churn rates despite being a premium service. This indicates potential price-value mismatch or technical reliability issues.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lnSpc>
                <a:spcPct val="129743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3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Fiber Optic                 :          High Risk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lnSpc>
                <a:spcPct val="129743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3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DSL                          </a:t>
            </a:r>
            <a:r>
              <a:rPr lang="en-US" sz="2350">
                <a:solidFill>
                  <a:srgbClr val="FFFFFF"/>
                </a:solidFill>
              </a:rPr>
              <a:t> </a:t>
            </a:r>
            <a:r>
              <a:rPr lang="en-US" sz="23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:          Moderate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lnSpc>
                <a:spcPct val="129743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3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No Internet              </a:t>
            </a:r>
            <a:r>
              <a:rPr lang="en-US" sz="2350">
                <a:solidFill>
                  <a:srgbClr val="FFFFFF"/>
                </a:solidFill>
              </a:rPr>
              <a:t>  </a:t>
            </a:r>
            <a:r>
              <a:rPr lang="en-US" sz="23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:          Low Risk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lnSpc>
                <a:spcPct val="116277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53388856" name="Google Shape;164;p6"/>
          <p:cNvSpPr txBox="1"/>
          <p:nvPr/>
        </p:nvSpPr>
        <p:spPr bwMode="auto">
          <a:xfrm>
            <a:off x="11692847" y="6899393"/>
            <a:ext cx="4224877" cy="33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300" b="0" i="0" u="none" strike="noStrike" cap="none">
                <a:solidFill>
                  <a:srgbClr val="F4D314"/>
                </a:solidFill>
                <a:latin typeface="Arial"/>
                <a:ea typeface="Arial"/>
                <a:cs typeface="Arial"/>
              </a:rPr>
              <a:t>INTERNET SERVICE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03961210" name="Google Shape;165;p6"/>
          <p:cNvSpPr txBox="1"/>
          <p:nvPr/>
        </p:nvSpPr>
        <p:spPr bwMode="auto">
          <a:xfrm>
            <a:off x="1411292" y="8091998"/>
            <a:ext cx="7655700" cy="1685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743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350" b="0" i="0" u="none" strike="noStrike" cap="none">
                <a:solidFill>
                  <a:srgbClr val="F4D314"/>
                </a:solidFill>
                <a:latin typeface="Lora"/>
                <a:ea typeface="Lora"/>
                <a:cs typeface="Lora"/>
              </a:rPr>
              <a:t>Strategic Action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lnSpc>
                <a:spcPct val="129743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350" b="0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</a:rPr>
              <a:t>Investigate fiber quality &amp; support experience.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lnSpc>
                <a:spcPct val="16938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lnSpc>
                <a:spcPct val="116277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4129600" name="Google Shape;171;p7"/>
          <p:cNvSpPr/>
          <p:nvPr/>
        </p:nvSpPr>
        <p:spPr bwMode="auto">
          <a:xfrm>
            <a:off x="0" y="0"/>
            <a:ext cx="19293840" cy="12935903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 l="0" t="-83411" r="0" b="-83411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6863588" name="Google Shape;172;p7"/>
          <p:cNvSpPr/>
          <p:nvPr/>
        </p:nvSpPr>
        <p:spPr bwMode="auto">
          <a:xfrm>
            <a:off x="10470272" y="3894867"/>
            <a:ext cx="9044432" cy="904443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>
            <a:blip r:embed="rId4">
              <a:alphaModFix amt="39000"/>
            </a:blip>
            <a:stretch>
              <a:fillRect l="-25045" t="0" r="-25042" b="0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20055926" name="Google Shape;173;p7"/>
          <p:cNvSpPr/>
          <p:nvPr/>
        </p:nvSpPr>
        <p:spPr bwMode="auto">
          <a:xfrm>
            <a:off x="933814" y="3264850"/>
            <a:ext cx="4773387" cy="3393534"/>
          </a:xfrm>
          <a:custGeom>
            <a:avLst/>
            <a:gdLst/>
            <a:ahLst/>
            <a:cxnLst/>
            <a:rect l="l" t="t" r="r" b="b"/>
            <a:pathLst>
              <a:path w="5118914" h="3781096" fill="norm" stroke="1" extrusionOk="0">
                <a:moveTo>
                  <a:pt x="0" y="0"/>
                </a:moveTo>
                <a:lnTo>
                  <a:pt x="5118913" y="0"/>
                </a:lnTo>
                <a:lnTo>
                  <a:pt x="5118913" y="3781096"/>
                </a:lnTo>
                <a:lnTo>
                  <a:pt x="0" y="37810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1738956066" name="Google Shape;174;p7"/>
          <p:cNvSpPr/>
          <p:nvPr/>
        </p:nvSpPr>
        <p:spPr bwMode="auto">
          <a:xfrm>
            <a:off x="6618010" y="3265174"/>
            <a:ext cx="4819861" cy="3396199"/>
          </a:xfrm>
          <a:custGeom>
            <a:avLst/>
            <a:gdLst/>
            <a:ahLst/>
            <a:cxnLst/>
            <a:rect l="l" t="t" r="r" b="b"/>
            <a:pathLst>
              <a:path w="5033797" h="3742368" fill="norm" stroke="1" extrusionOk="0">
                <a:moveTo>
                  <a:pt x="0" y="0"/>
                </a:moveTo>
                <a:lnTo>
                  <a:pt x="5033797" y="0"/>
                </a:lnTo>
                <a:lnTo>
                  <a:pt x="5033797" y="3742368"/>
                </a:lnTo>
                <a:lnTo>
                  <a:pt x="0" y="37423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1880298145" name="Google Shape;175;p7"/>
          <p:cNvSpPr/>
          <p:nvPr/>
        </p:nvSpPr>
        <p:spPr bwMode="auto">
          <a:xfrm>
            <a:off x="981689" y="7540186"/>
            <a:ext cx="4773387" cy="3646644"/>
          </a:xfrm>
          <a:custGeom>
            <a:avLst/>
            <a:gdLst/>
            <a:ahLst/>
            <a:cxnLst/>
            <a:rect l="l" t="t" r="r" b="b"/>
            <a:pathLst>
              <a:path w="5118914" h="3798587" fill="norm" stroke="1" extrusionOk="0">
                <a:moveTo>
                  <a:pt x="0" y="0"/>
                </a:moveTo>
                <a:lnTo>
                  <a:pt x="5118913" y="0"/>
                </a:lnTo>
                <a:lnTo>
                  <a:pt x="5118913" y="3798587"/>
                </a:lnTo>
                <a:lnTo>
                  <a:pt x="0" y="379858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1416947186" name="Google Shape;176;p7"/>
          <p:cNvSpPr/>
          <p:nvPr/>
        </p:nvSpPr>
        <p:spPr bwMode="auto">
          <a:xfrm>
            <a:off x="6597851" y="7539849"/>
            <a:ext cx="4854901" cy="3648798"/>
          </a:xfrm>
          <a:custGeom>
            <a:avLst/>
            <a:gdLst/>
            <a:ahLst/>
            <a:cxnLst/>
            <a:rect l="l" t="t" r="r" b="b"/>
            <a:pathLst>
              <a:path w="5070393" h="3771367" fill="norm" stroke="1" extrusionOk="0">
                <a:moveTo>
                  <a:pt x="0" y="0"/>
                </a:moveTo>
                <a:lnTo>
                  <a:pt x="5070393" y="0"/>
                </a:lnTo>
                <a:lnTo>
                  <a:pt x="5070393" y="3771367"/>
                </a:lnTo>
                <a:lnTo>
                  <a:pt x="0" y="37713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1388920430" name="Google Shape;177;p7"/>
          <p:cNvSpPr txBox="1"/>
          <p:nvPr/>
        </p:nvSpPr>
        <p:spPr bwMode="auto">
          <a:xfrm>
            <a:off x="571557" y="338207"/>
            <a:ext cx="11581500" cy="22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500" b="1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</a:rPr>
              <a:t>DEMOGRAPHICS &amp; BILLING INSIGHTS</a:t>
            </a:r>
            <a:endParaRPr sz="6500" b="1" i="0" u="none" strike="noStrike" cap="none">
              <a:solidFill>
                <a:schemeClr val="dk1"/>
              </a:solidFill>
              <a:latin typeface="Lora"/>
              <a:ea typeface="Lora"/>
              <a:cs typeface="Lora"/>
            </a:endParaRPr>
          </a:p>
          <a:p>
            <a:pPr marL="0" marR="0" lvl="0" indent="0" algn="l" rtl="0">
              <a:lnSpc>
                <a:spcPct val="4950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2752349" name="Google Shape;178;p7"/>
          <p:cNvSpPr txBox="1"/>
          <p:nvPr/>
        </p:nvSpPr>
        <p:spPr bwMode="auto">
          <a:xfrm>
            <a:off x="11666950" y="8307750"/>
            <a:ext cx="5057700" cy="17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100">
              <a:solidFill>
                <a:srgbClr val="F4D314"/>
              </a:solidFill>
            </a:endParaRP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0" i="0" u="none" strike="noStrike" cap="none">
                <a:solidFill>
                  <a:srgbClr val="F4D314"/>
                </a:solidFill>
                <a:latin typeface="Arial"/>
                <a:ea typeface="Arial"/>
                <a:cs typeface="Arial"/>
              </a:rPr>
              <a:t>GENDER NEUTRALITY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0" i="0" u="none" strike="noStrike" cap="none">
                <a:solidFill>
                  <a:srgbClr val="FEFEFE"/>
                </a:solidFill>
                <a:latin typeface="Cabin"/>
                <a:ea typeface="Cabin"/>
                <a:cs typeface="Cabin"/>
              </a:rPr>
              <a:t>Minimal impact on churn behavior  Not a key differentia</a:t>
            </a:r>
            <a:r>
              <a:rPr lang="en-US" sz="20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tor.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34166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123125" name="Google Shape;179;p7"/>
          <p:cNvSpPr txBox="1"/>
          <p:nvPr/>
        </p:nvSpPr>
        <p:spPr bwMode="auto">
          <a:xfrm>
            <a:off x="12463205" y="1641236"/>
            <a:ext cx="5057562" cy="4459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1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550" b="0" i="0" u="none" strike="noStrike" cap="none">
                <a:solidFill>
                  <a:srgbClr val="F4D314"/>
                </a:solidFill>
                <a:latin typeface="Arial"/>
                <a:ea typeface="Arial"/>
                <a:cs typeface="Arial"/>
              </a:rPr>
              <a:t>       Strategic Implication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550284" marR="0" lvl="1" indent="-275141" algn="l" rtl="0">
              <a:lnSpc>
                <a:spcPct val="13992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Char char="•"/>
              <a:defRPr/>
            </a:pPr>
            <a:r>
              <a:rPr lang="en-US" sz="25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Solo customers</a:t>
            </a:r>
            <a:r>
              <a:rPr lang="en-US" sz="25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 (no partner/dependents) and </a:t>
            </a:r>
            <a:r>
              <a:rPr lang="en-US" sz="25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Senior Citizens</a:t>
            </a:r>
            <a:r>
              <a:rPr lang="en-US" sz="25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 represent the highest demographic risk segments.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98222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550284" marR="0" lvl="1" indent="-275141" algn="l" rtl="0">
              <a:lnSpc>
                <a:spcPct val="13992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Char char="•"/>
              <a:defRPr/>
            </a:pPr>
            <a:r>
              <a:rPr lang="en-US" sz="25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Family</a:t>
            </a:r>
            <a:r>
              <a:rPr lang="en-US" sz="25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 ties create natural retention barriers.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98222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4561299" name="Google Shape;185;p8"/>
          <p:cNvSpPr/>
          <p:nvPr/>
        </p:nvSpPr>
        <p:spPr bwMode="auto"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 l="0" t="-9221" r="0" b="-9218"/>
            </a:stretch>
          </a:blipFill>
          <a:ln>
            <a:noFill/>
          </a:ln>
        </p:spPr>
      </p:sp>
      <p:sp>
        <p:nvSpPr>
          <p:cNvPr id="1723867975" name="Google Shape;186;p8"/>
          <p:cNvSpPr/>
          <p:nvPr/>
        </p:nvSpPr>
        <p:spPr bwMode="auto">
          <a:xfrm>
            <a:off x="9347628" y="1290248"/>
            <a:ext cx="8457127" cy="5972846"/>
          </a:xfrm>
          <a:custGeom>
            <a:avLst/>
            <a:gdLst/>
            <a:ahLst/>
            <a:cxnLst/>
            <a:rect l="l" t="t" r="r" b="b"/>
            <a:pathLst>
              <a:path w="8457127" h="5972846" fill="norm" stroke="1" extrusionOk="0">
                <a:moveTo>
                  <a:pt x="0" y="0"/>
                </a:moveTo>
                <a:lnTo>
                  <a:pt x="8457127" y="0"/>
                </a:lnTo>
                <a:lnTo>
                  <a:pt x="8457127" y="5972845"/>
                </a:lnTo>
                <a:lnTo>
                  <a:pt x="0" y="59728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482552311" name="Google Shape;187;p8"/>
          <p:cNvSpPr/>
          <p:nvPr/>
        </p:nvSpPr>
        <p:spPr bwMode="auto">
          <a:xfrm>
            <a:off x="462948" y="5890465"/>
            <a:ext cx="8727578" cy="4091052"/>
          </a:xfrm>
          <a:custGeom>
            <a:avLst/>
            <a:gdLst/>
            <a:ahLst/>
            <a:cxnLst/>
            <a:rect l="l" t="t" r="r" b="b"/>
            <a:pathLst>
              <a:path w="8727578" h="4091052" fill="norm" stroke="1" extrusionOk="0">
                <a:moveTo>
                  <a:pt x="0" y="0"/>
                </a:moveTo>
                <a:lnTo>
                  <a:pt x="8727578" y="0"/>
                </a:lnTo>
                <a:lnTo>
                  <a:pt x="8727578" y="4091052"/>
                </a:lnTo>
                <a:lnTo>
                  <a:pt x="0" y="4091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1594338486" name="Google Shape;188;p8"/>
          <p:cNvSpPr txBox="1"/>
          <p:nvPr/>
        </p:nvSpPr>
        <p:spPr bwMode="auto">
          <a:xfrm>
            <a:off x="1028699" y="105423"/>
            <a:ext cx="7596000" cy="3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400" b="1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</a:rPr>
              <a:t>CHURN PREDICTION MODEL</a:t>
            </a:r>
            <a:endParaRPr sz="1800" b="1" i="0" u="none" strike="noStrike" cap="none">
              <a:solidFill>
                <a:schemeClr val="dk1"/>
              </a:solidFill>
              <a:latin typeface="Lora"/>
              <a:ea typeface="Lora"/>
              <a:cs typeface="Lora"/>
            </a:endParaRPr>
          </a:p>
          <a:p>
            <a:pPr marL="0" marR="0" lvl="0" indent="0" algn="l" rtl="0">
              <a:lnSpc>
                <a:spcPct val="409222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4761707" name="Google Shape;189;p8"/>
          <p:cNvSpPr txBox="1"/>
          <p:nvPr/>
        </p:nvSpPr>
        <p:spPr bwMode="auto">
          <a:xfrm>
            <a:off x="1075285" y="3224491"/>
            <a:ext cx="7856700" cy="25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89553" marR="0" lvl="1" indent="-2447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Char char="•"/>
              <a:defRPr/>
            </a:pPr>
            <a:r>
              <a:rPr lang="en-US" sz="2250" b="0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</a:rPr>
              <a:t>Model Used: Logistic Regression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489553" marR="0" lvl="1" indent="-2447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Char char="•"/>
              <a:defRPr/>
            </a:pPr>
            <a:r>
              <a:rPr lang="en-US" sz="2250" b="0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</a:rPr>
              <a:t>Inputs: Tenure, Monthly Charges, Services, Contract, etc.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489553" marR="0" lvl="1" indent="-2447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Char char="•"/>
              <a:defRPr/>
            </a:pPr>
            <a:r>
              <a:rPr lang="en-US" sz="2250" b="0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</a:rPr>
              <a:t>Output: Probability of churn (0 to 1)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489553" marR="0" lvl="1" indent="-2447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Char char="•"/>
              <a:defRPr/>
            </a:pPr>
            <a:r>
              <a:rPr lang="en-US" sz="2250" b="0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</a:rPr>
              <a:t>Goal: Identify high-risk customers early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0924373" name="Google Shape;190;p8"/>
          <p:cNvSpPr txBox="1"/>
          <p:nvPr/>
        </p:nvSpPr>
        <p:spPr bwMode="auto">
          <a:xfrm>
            <a:off x="14934045" y="9657574"/>
            <a:ext cx="2758559" cy="320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sng" strike="noStrike" cap="none">
                <a:solidFill>
                  <a:schemeClr val="bg1"/>
                </a:solidFill>
                <a:highlight>
                  <a:srgbClr val="FFFF00"/>
                </a:highlight>
                <a:latin typeface="Arimo"/>
                <a:ea typeface="Arimo"/>
                <a:cs typeface="Arimo"/>
                <a:hlinkClick r:id="rId6" tooltip=""/>
              </a:rPr>
              <a:t>click to see the source code</a:t>
            </a:r>
            <a:endParaRPr sz="1800" b="0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325419" name="Google Shape;196;p9"/>
          <p:cNvSpPr/>
          <p:nvPr/>
        </p:nvSpPr>
        <p:spPr bwMode="auto"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 l="0" t="-83411" r="0" b="-83411"/>
            </a:stretch>
          </a:blipFill>
          <a:ln>
            <a:noFill/>
          </a:ln>
        </p:spPr>
      </p:sp>
      <p:sp>
        <p:nvSpPr>
          <p:cNvPr id="649319336" name="Google Shape;197;p9"/>
          <p:cNvSpPr/>
          <p:nvPr/>
        </p:nvSpPr>
        <p:spPr bwMode="auto">
          <a:xfrm>
            <a:off x="0" y="4602825"/>
            <a:ext cx="7152640" cy="568553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>
            <a:blip r:embed="rId4">
              <a:alphaModFix/>
            </a:blip>
            <a:stretch>
              <a:fillRect l="0" t="-49810" r="0" b="0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77378812" name="Google Shape;198;p9"/>
          <p:cNvSpPr txBox="1"/>
          <p:nvPr/>
        </p:nvSpPr>
        <p:spPr bwMode="auto">
          <a:xfrm>
            <a:off x="484884" y="350947"/>
            <a:ext cx="10244398" cy="988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46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800" b="1" i="0" u="none" strike="noStrike" cap="none">
                <a:solidFill>
                  <a:srgbClr val="FFFFFF"/>
                </a:solidFill>
                <a:latin typeface="League Gothic"/>
                <a:ea typeface="League Gothic"/>
                <a:cs typeface="League Gothic"/>
              </a:rPr>
              <a:t>KEY CHURN DRIVERS</a:t>
            </a:r>
            <a:endParaRPr sz="13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958722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1823163342" name="Google Shape;199;p9"/>
          <p:cNvGrpSpPr/>
          <p:nvPr/>
        </p:nvGrpSpPr>
        <p:grpSpPr bwMode="auto">
          <a:xfrm>
            <a:off x="8918379" y="423695"/>
            <a:ext cx="7404852" cy="9394108"/>
            <a:chOff x="0" y="0"/>
            <a:chExt cx="1950249" cy="2474168"/>
          </a:xfrm>
        </p:grpSpPr>
        <p:sp>
          <p:nvSpPr>
            <p:cNvPr id="200" name="Google Shape;200;p9"/>
            <p:cNvSpPr/>
            <p:nvPr/>
          </p:nvSpPr>
          <p:spPr bwMode="auto">
            <a:xfrm>
              <a:off x="0" y="0"/>
              <a:ext cx="1950249" cy="2474168"/>
            </a:xfrm>
            <a:custGeom>
              <a:avLst/>
              <a:gdLst/>
              <a:ahLst/>
              <a:cxnLst/>
              <a:rect l="l" t="t" r="r" b="b"/>
              <a:pathLst>
                <a:path w="1950249" h="2474168" fill="norm" stroke="1" extrusionOk="0">
                  <a:moveTo>
                    <a:pt x="0" y="0"/>
                  </a:moveTo>
                  <a:lnTo>
                    <a:pt x="1950249" y="0"/>
                  </a:lnTo>
                  <a:lnTo>
                    <a:pt x="1950249" y="2474168"/>
                  </a:lnTo>
                  <a:lnTo>
                    <a:pt x="0" y="2474168"/>
                  </a:lnTo>
                  <a:close/>
                </a:path>
              </a:pathLst>
            </a:custGeom>
            <a:solidFill>
              <a:srgbClr val="0B0B0A">
                <a:alpha val="90588"/>
              </a:srgbClr>
            </a:solidFill>
            <a:ln>
              <a:noFill/>
            </a:ln>
          </p:spPr>
        </p:sp>
        <p:sp>
          <p:nvSpPr>
            <p:cNvPr id="201" name="Google Shape;201;p9"/>
            <p:cNvSpPr txBox="1"/>
            <p:nvPr/>
          </p:nvSpPr>
          <p:spPr bwMode="auto">
            <a:xfrm>
              <a:off x="0" y="19050"/>
              <a:ext cx="1950249" cy="24551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539748" marR="0" lvl="1" indent="-269873" algn="ctr" rtl="0">
                <a:lnSpc>
                  <a:spcPct val="114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FEFEFE"/>
                </a:buClr>
                <a:buSzPts val="2500"/>
                <a:buFont typeface="Arial"/>
                <a:buChar char="•"/>
                <a:defRPr/>
              </a:pPr>
              <a:r>
                <a:rPr lang="en-US" sz="2500" b="0" i="0" u="none" strike="noStrike" cap="none">
                  <a:solidFill>
                    <a:srgbClr val="FEFEFE"/>
                  </a:solidFill>
                  <a:latin typeface="Arial"/>
                  <a:ea typeface="Arial"/>
                  <a:cs typeface="Arial"/>
                </a:rPr>
                <a:t> MONTH-TO-MONTH CONTRACTS → HIGHEST CHURN RISK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  <a:p>
              <a:pPr marL="0" marR="0" lvl="0" indent="0" algn="ctr" rtl="0">
                <a:lnSpc>
                  <a:spcPct val="159666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  <a:p>
              <a:pPr marL="539748" marR="0" lvl="1" indent="-269873" algn="ctr" rtl="0">
                <a:lnSpc>
                  <a:spcPct val="114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FEFEFE"/>
                </a:buClr>
                <a:buSzPts val="2500"/>
                <a:buFont typeface="Arial"/>
                <a:buChar char="•"/>
                <a:defRPr/>
              </a:pPr>
              <a:r>
                <a:rPr lang="en-US" sz="2500" b="0" i="0" u="none" strike="noStrike" cap="none">
                  <a:solidFill>
                    <a:srgbClr val="FEFEFE"/>
                  </a:solidFill>
                  <a:latin typeface="Arial"/>
                  <a:ea typeface="Arial"/>
                  <a:cs typeface="Arial"/>
                </a:rPr>
                <a:t>High Monthly Charges → Increased churn probability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  <a:p>
              <a:pPr marL="0" marR="0" lvl="0" indent="0" algn="ctr" rtl="0">
                <a:lnSpc>
                  <a:spcPct val="159666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  <a:p>
              <a:pPr marL="539748" marR="0" lvl="1" indent="-269873" algn="ctr" rtl="0">
                <a:lnSpc>
                  <a:spcPct val="114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FEFEFE"/>
                </a:buClr>
                <a:buSzPts val="2500"/>
                <a:buFont typeface="Arial"/>
                <a:buChar char="•"/>
                <a:defRPr/>
              </a:pPr>
              <a:r>
                <a:rPr lang="en-US" sz="2500" b="0" i="0" u="none" strike="noStrike" cap="none">
                  <a:solidFill>
                    <a:srgbClr val="FEFEFE"/>
                  </a:solidFill>
                  <a:latin typeface="Arial"/>
                  <a:ea typeface="Arial"/>
                  <a:cs typeface="Arial"/>
                </a:rPr>
                <a:t>Low Tenure → New customers at higher risk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  <a:p>
              <a:pPr marL="0" marR="0" lvl="0" indent="0" algn="ctr" rtl="0">
                <a:lnSpc>
                  <a:spcPct val="159666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  <a:p>
              <a:pPr marL="0" marR="0" lvl="0" indent="0" algn="ctr" rtl="0">
                <a:lnSpc>
                  <a:spcPct val="159666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  <a:p>
              <a:pPr marL="539748" marR="0" lvl="1" indent="-269873" algn="ctr" rtl="0">
                <a:lnSpc>
                  <a:spcPct val="114960"/>
                </a:lnSpc>
                <a:spcBef>
                  <a:spcPts val="0"/>
                </a:spcBef>
                <a:spcAft>
                  <a:spcPts val="0"/>
                </a:spcAft>
                <a:buClr>
                  <a:srgbClr val="FEFEFE"/>
                </a:buClr>
                <a:buSzPts val="2500"/>
                <a:buFont typeface="Arial"/>
                <a:buChar char="•"/>
                <a:defRPr/>
              </a:pPr>
              <a:r>
                <a:rPr lang="en-US" sz="2500" b="0" i="0" u="none" strike="noStrike" cap="none">
                  <a:solidFill>
                    <a:srgbClr val="FEFEFE"/>
                  </a:solidFill>
                  <a:latin typeface="Arial"/>
                  <a:ea typeface="Arial"/>
                  <a:cs typeface="Arial"/>
                </a:rPr>
                <a:t>Fiber Optic Internet Users → More likely to churn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  <a:p>
              <a:pPr marL="0" marR="0" lvl="0" indent="0" algn="ctr" rtl="0">
                <a:lnSpc>
                  <a:spcPct val="159666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110480" name="Google Shape;207;p10"/>
          <p:cNvSpPr/>
          <p:nvPr/>
        </p:nvSpPr>
        <p:spPr bwMode="auto"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 l="0" t="-9221" r="0" b="-9218"/>
            </a:stretch>
          </a:blipFill>
          <a:ln>
            <a:noFill/>
          </a:ln>
        </p:spPr>
      </p:sp>
      <p:sp>
        <p:nvSpPr>
          <p:cNvPr id="1196843000" name="Google Shape;208;p10"/>
          <p:cNvSpPr/>
          <p:nvPr/>
        </p:nvSpPr>
        <p:spPr bwMode="auto">
          <a:xfrm>
            <a:off x="8711900" y="1370975"/>
            <a:ext cx="8881872" cy="88392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>
            <a:blip r:embed="rId4">
              <a:alphaModFix/>
            </a:blip>
            <a:stretch>
              <a:fillRect l="-25045" t="0" r="-25042" b="0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352127603" name="Google Shape;209;p10"/>
          <p:cNvGrpSpPr/>
          <p:nvPr/>
        </p:nvGrpSpPr>
        <p:grpSpPr bwMode="auto">
          <a:xfrm>
            <a:off x="1958324" y="4707363"/>
            <a:ext cx="15029637" cy="2206524"/>
            <a:chOff x="0" y="-28575"/>
            <a:chExt cx="3958423" cy="581142"/>
          </a:xfrm>
        </p:grpSpPr>
        <p:sp>
          <p:nvSpPr>
            <p:cNvPr id="210" name="Google Shape;210;p10"/>
            <p:cNvSpPr/>
            <p:nvPr/>
          </p:nvSpPr>
          <p:spPr bwMode="auto">
            <a:xfrm>
              <a:off x="0" y="0"/>
              <a:ext cx="3958423" cy="552567"/>
            </a:xfrm>
            <a:custGeom>
              <a:avLst/>
              <a:gdLst/>
              <a:ahLst/>
              <a:cxnLst/>
              <a:rect l="l" t="t" r="r" b="b"/>
              <a:pathLst>
                <a:path w="3958423" h="552567" fill="norm" stroke="1" extrusionOk="0">
                  <a:moveTo>
                    <a:pt x="0" y="0"/>
                  </a:moveTo>
                  <a:lnTo>
                    <a:pt x="3958423" y="0"/>
                  </a:lnTo>
                  <a:lnTo>
                    <a:pt x="3958423" y="552567"/>
                  </a:lnTo>
                  <a:lnTo>
                    <a:pt x="0" y="552567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</p:spPr>
        </p:sp>
        <p:sp>
          <p:nvSpPr>
            <p:cNvPr id="211" name="Google Shape;211;p10"/>
            <p:cNvSpPr txBox="1"/>
            <p:nvPr/>
          </p:nvSpPr>
          <p:spPr bwMode="auto">
            <a:xfrm>
              <a:off x="0" y="-28575"/>
              <a:ext cx="3958423" cy="5811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7214170" name="Google Shape;212;p10"/>
          <p:cNvSpPr txBox="1"/>
          <p:nvPr/>
        </p:nvSpPr>
        <p:spPr bwMode="auto">
          <a:xfrm>
            <a:off x="1958324" y="709476"/>
            <a:ext cx="7657800" cy="46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736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7200" b="1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</a:rPr>
              <a:t>DRIVERS THAT REDUCE </a:t>
            </a:r>
            <a:endParaRPr sz="7200" b="1" i="0" u="none" strike="noStrike" cap="none">
              <a:solidFill>
                <a:srgbClr val="FFFFFF"/>
              </a:solidFill>
              <a:latin typeface="Lora"/>
              <a:ea typeface="Lora"/>
              <a:cs typeface="Lora"/>
            </a:endParaRPr>
          </a:p>
          <a:p>
            <a:pPr marL="0" lvl="0" indent="0" algn="l" rtl="0">
              <a:lnSpc>
                <a:spcPct val="130722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7200" b="1">
                <a:solidFill>
                  <a:srgbClr val="FFFFFF"/>
                </a:solidFill>
                <a:latin typeface="Lora"/>
                <a:ea typeface="Lora"/>
                <a:cs typeface="Lora"/>
              </a:rPr>
              <a:t>CHURN</a:t>
            </a:r>
            <a:endParaRPr sz="7200" b="1" i="0" u="none" strike="noStrike" cap="none">
              <a:solidFill>
                <a:schemeClr val="dk1"/>
              </a:solidFill>
              <a:latin typeface="Lora"/>
              <a:ea typeface="Lora"/>
              <a:cs typeface="Lora"/>
            </a:endParaRPr>
          </a:p>
          <a:p>
            <a:pPr marL="0" marR="0" lvl="0" indent="0" algn="l" rtl="0">
              <a:lnSpc>
                <a:spcPct val="52294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58641731" name="Google Shape;213;p10"/>
          <p:cNvSpPr txBox="1"/>
          <p:nvPr/>
        </p:nvSpPr>
        <p:spPr bwMode="auto">
          <a:xfrm>
            <a:off x="6832659" y="5143500"/>
            <a:ext cx="4795600" cy="1262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21782" marR="0" lvl="1" indent="-260891" algn="l" rtl="0">
              <a:lnSpc>
                <a:spcPct val="1409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  <a:defRPr/>
            </a:pPr>
            <a:r>
              <a:rPr lang="en-US"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Long-term Contracts (1-Year, 2-Year)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8794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5513925" name="Google Shape;214;p10"/>
          <p:cNvSpPr txBox="1"/>
          <p:nvPr/>
        </p:nvSpPr>
        <p:spPr bwMode="auto">
          <a:xfrm>
            <a:off x="2214412" y="5267542"/>
            <a:ext cx="5025835" cy="87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46832" marR="0" lvl="1" indent="-273416" algn="l" rtl="0">
              <a:lnSpc>
                <a:spcPct val="139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Char char="•"/>
              <a:defRPr/>
            </a:pPr>
            <a:r>
              <a:rPr lang="en-US" sz="25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Auto-Pay Billing Methods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9694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37985226" name="Google Shape;215;p10"/>
          <p:cNvSpPr txBox="1"/>
          <p:nvPr/>
        </p:nvSpPr>
        <p:spPr bwMode="auto">
          <a:xfrm>
            <a:off x="11949678" y="5143500"/>
            <a:ext cx="4795600" cy="1262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21782" marR="0" lvl="1" indent="-260891" algn="l" rtl="0">
              <a:lnSpc>
                <a:spcPct val="1409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  <a:defRPr/>
            </a:pPr>
            <a:r>
              <a:rPr lang="en-US"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Stable Internet + Phone Service Combination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8794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5901414" name="Google Shape;221;p11"/>
          <p:cNvSpPr/>
          <p:nvPr/>
        </p:nvSpPr>
        <p:spPr bwMode="auto"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 l="0" t="-9221" r="0" b="-9218"/>
            </a:stretch>
          </a:blipFill>
          <a:ln>
            <a:noFill/>
          </a:ln>
        </p:spPr>
      </p:sp>
      <p:sp>
        <p:nvSpPr>
          <p:cNvPr id="387379596" name="Google Shape;222;p11"/>
          <p:cNvSpPr txBox="1"/>
          <p:nvPr/>
        </p:nvSpPr>
        <p:spPr bwMode="auto">
          <a:xfrm>
            <a:off x="1243200" y="4441150"/>
            <a:ext cx="4611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6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 b="0" i="0" u="none" strike="noStrike" cap="none">
                <a:solidFill>
                  <a:srgbClr val="F4D314"/>
                </a:solidFill>
                <a:latin typeface="Arial"/>
                <a:ea typeface="Arial"/>
                <a:cs typeface="Arial"/>
              </a:rPr>
              <a:t>RECOMMENDATIONS: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23376283" name="Google Shape;223;p11"/>
          <p:cNvSpPr txBox="1"/>
          <p:nvPr/>
        </p:nvSpPr>
        <p:spPr bwMode="auto">
          <a:xfrm>
            <a:off x="1165720" y="207265"/>
            <a:ext cx="11139600" cy="3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7700" b="1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</a:rPr>
              <a:t>RETENTION STRATEGY RECOMMENDATIONS</a:t>
            </a:r>
            <a:endParaRPr sz="1300" b="1" i="0" u="none" strike="noStrike" cap="none">
              <a:solidFill>
                <a:schemeClr val="dk1"/>
              </a:solidFill>
              <a:latin typeface="Lora"/>
              <a:ea typeface="Lora"/>
              <a:cs typeface="Lor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53968264" name="Google Shape;224;p11"/>
          <p:cNvSpPr txBox="1"/>
          <p:nvPr/>
        </p:nvSpPr>
        <p:spPr bwMode="auto">
          <a:xfrm>
            <a:off x="5041126" y="5417525"/>
            <a:ext cx="3869260" cy="1176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26294" marR="0" lvl="1" indent="-263146" algn="ctr" rtl="0">
              <a:lnSpc>
                <a:spcPct val="129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50"/>
              <a:buFont typeface="Arial"/>
              <a:buChar char="•"/>
              <a:defRPr/>
            </a:pPr>
            <a:r>
              <a:rPr lang="en-US" sz="24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Provide targeted offers for high-bill customers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lnSpc>
                <a:spcPct val="176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91460439" name="Google Shape;225;p11"/>
          <p:cNvSpPr txBox="1"/>
          <p:nvPr/>
        </p:nvSpPr>
        <p:spPr bwMode="auto">
          <a:xfrm>
            <a:off x="854934" y="5369094"/>
            <a:ext cx="4013097" cy="1625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45859" marR="0" lvl="1" indent="-272928" algn="l" rtl="0">
              <a:lnSpc>
                <a:spcPct val="1288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Char char="•"/>
              <a:defRPr/>
            </a:pPr>
            <a:r>
              <a:rPr lang="en-US" sz="25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Convert Month-to-Month users to annual plans using discounts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825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3626411" name="Google Shape;226;p11"/>
          <p:cNvSpPr txBox="1"/>
          <p:nvPr/>
        </p:nvSpPr>
        <p:spPr bwMode="auto">
          <a:xfrm>
            <a:off x="9574424" y="5233640"/>
            <a:ext cx="4072910" cy="1672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53994" marR="0" lvl="1" indent="-276997" algn="l" rtl="0">
              <a:lnSpc>
                <a:spcPct val="1307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Char char="•"/>
              <a:defRPr/>
            </a:pPr>
            <a:r>
              <a:rPr lang="en-US" sz="25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Improve support quality for users with frequent complaints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85277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4441236" name="Google Shape;227;p11"/>
          <p:cNvSpPr txBox="1"/>
          <p:nvPr/>
        </p:nvSpPr>
        <p:spPr bwMode="auto">
          <a:xfrm>
            <a:off x="13792631" y="5233641"/>
            <a:ext cx="4054603" cy="1672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51504" marR="0" lvl="1" indent="-275752" algn="l" rtl="0">
              <a:lnSpc>
                <a:spcPct val="1301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Char char="•"/>
              <a:defRPr/>
            </a:pPr>
            <a:r>
              <a:rPr lang="en-US" sz="25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Promote auto-pay &amp; paperless billing enrollment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8444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009971" name="Google Shape;233;p12"/>
          <p:cNvSpPr/>
          <p:nvPr/>
        </p:nvSpPr>
        <p:spPr bwMode="auto">
          <a:xfrm>
            <a:off x="4785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 l="0" t="-9221" r="0" b="-9218"/>
            </a:stretch>
          </a:blipFill>
          <a:ln>
            <a:noFill/>
          </a:ln>
        </p:spPr>
      </p:sp>
      <p:sp>
        <p:nvSpPr>
          <p:cNvPr id="1700652890" name="Google Shape;234;p12"/>
          <p:cNvSpPr/>
          <p:nvPr/>
        </p:nvSpPr>
        <p:spPr bwMode="auto">
          <a:xfrm>
            <a:off x="47850" y="2968850"/>
            <a:ext cx="8292592" cy="718921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>
            <a:blip r:embed="rId4">
              <a:alphaModFix/>
            </a:blip>
            <a:stretch>
              <a:fillRect l="-25045" t="0" r="-25042" b="0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58967559" name="Google Shape;235;p12"/>
          <p:cNvSpPr/>
          <p:nvPr/>
        </p:nvSpPr>
        <p:spPr bwMode="auto">
          <a:xfrm>
            <a:off x="610067" y="2880274"/>
            <a:ext cx="11024578" cy="5982720"/>
          </a:xfrm>
          <a:custGeom>
            <a:avLst/>
            <a:gdLst/>
            <a:ahLst/>
            <a:cxnLst/>
            <a:rect l="l" t="t" r="r" b="b"/>
            <a:pathLst>
              <a:path w="11024578" h="5982720" fill="norm" stroke="1" extrusionOk="0">
                <a:moveTo>
                  <a:pt x="0" y="0"/>
                </a:moveTo>
                <a:lnTo>
                  <a:pt x="11024579" y="0"/>
                </a:lnTo>
                <a:lnTo>
                  <a:pt x="11024579" y="5982720"/>
                </a:lnTo>
                <a:lnTo>
                  <a:pt x="0" y="59827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/>
            </a:blip>
            <a:stretch>
              <a:fillRect l="0" t="0" r="-6403" b="0"/>
            </a:stretch>
          </a:blipFill>
          <a:ln>
            <a:noFill/>
          </a:ln>
        </p:spPr>
      </p:sp>
      <p:sp>
        <p:nvSpPr>
          <p:cNvPr id="357426964" name="Google Shape;236;p12"/>
          <p:cNvSpPr/>
          <p:nvPr/>
        </p:nvSpPr>
        <p:spPr bwMode="auto">
          <a:xfrm>
            <a:off x="5585466" y="4886429"/>
            <a:ext cx="5166194" cy="1970408"/>
          </a:xfrm>
          <a:custGeom>
            <a:avLst/>
            <a:gdLst/>
            <a:ahLst/>
            <a:cxnLst/>
            <a:rect l="l" t="t" r="r" b="b"/>
            <a:pathLst>
              <a:path w="5166194" h="1970408" fill="norm" stroke="1" extrusionOk="0">
                <a:moveTo>
                  <a:pt x="0" y="0"/>
                </a:moveTo>
                <a:lnTo>
                  <a:pt x="5166193" y="0"/>
                </a:lnTo>
                <a:lnTo>
                  <a:pt x="5166193" y="1970408"/>
                </a:lnTo>
                <a:lnTo>
                  <a:pt x="0" y="19704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347876293" name="Google Shape;237;p12"/>
          <p:cNvSpPr txBox="1"/>
          <p:nvPr/>
        </p:nvSpPr>
        <p:spPr bwMode="auto">
          <a:xfrm>
            <a:off x="1028700" y="868196"/>
            <a:ext cx="8805300" cy="13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80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8900" b="1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</a:rPr>
              <a:t>CONCLUSIONS</a:t>
            </a:r>
            <a:endParaRPr sz="1800" i="0" u="none" strike="noStrike" cap="none">
              <a:solidFill>
                <a:schemeClr val="dk1"/>
              </a:solidFill>
              <a:latin typeface="Lora"/>
              <a:ea typeface="Lora"/>
              <a:cs typeface="Lora"/>
            </a:endParaRPr>
          </a:p>
        </p:txBody>
      </p:sp>
      <p:sp>
        <p:nvSpPr>
          <p:cNvPr id="1867004969" name="Google Shape;238;p12"/>
          <p:cNvSpPr txBox="1"/>
          <p:nvPr/>
        </p:nvSpPr>
        <p:spPr bwMode="auto">
          <a:xfrm>
            <a:off x="11401151" y="2880275"/>
            <a:ext cx="6803700" cy="59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05143" marR="0" lvl="1" indent="-352571" algn="l" rtl="0">
              <a:lnSpc>
                <a:spcPct val="1406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50"/>
              <a:buFont typeface="Arial"/>
              <a:buChar char="•"/>
              <a:defRPr/>
            </a:pPr>
            <a:r>
              <a:rPr lang="en-US" sz="32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Logistic Regression model successfully predicts churn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254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705143" marR="0" lvl="1" indent="-352571" algn="l" rtl="0">
              <a:lnSpc>
                <a:spcPct val="1406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50"/>
              <a:buFont typeface="Arial"/>
              <a:buChar char="•"/>
              <a:defRPr/>
            </a:pPr>
            <a:r>
              <a:rPr lang="en-US" sz="32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 Key churn drivers identified clearly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254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705143" marR="0" lvl="1" indent="-352571" algn="l" rtl="0">
              <a:lnSpc>
                <a:spcPct val="1406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50"/>
              <a:buFont typeface="Arial"/>
              <a:buChar char="•"/>
              <a:defRPr/>
            </a:pPr>
            <a:r>
              <a:rPr lang="en-US" sz="32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Practical retention strategies recommended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84222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5724861" name="Google Shape;244;p13"/>
          <p:cNvSpPr/>
          <p:nvPr/>
        </p:nvSpPr>
        <p:spPr bwMode="auto"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 l="0" t="-83411" r="0" b="-83411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33017807" name="Google Shape;245;p13"/>
          <p:cNvSpPr txBox="1"/>
          <p:nvPr/>
        </p:nvSpPr>
        <p:spPr bwMode="auto">
          <a:xfrm>
            <a:off x="2750475" y="3014353"/>
            <a:ext cx="13659600" cy="25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862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700" b="1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</a:rPr>
              <a:t>THANK YOU</a:t>
            </a:r>
            <a:endParaRPr sz="16700" b="1" i="0" u="none" strike="noStrike" cap="none">
              <a:solidFill>
                <a:schemeClr val="dk1"/>
              </a:solidFill>
              <a:latin typeface="Lora"/>
              <a:ea typeface="Lora"/>
              <a:cs typeface="Lora"/>
            </a:endParaRPr>
          </a:p>
        </p:txBody>
      </p:sp>
      <p:sp>
        <p:nvSpPr>
          <p:cNvPr id="950925799" name="Google Shape;246;p13"/>
          <p:cNvSpPr txBox="1"/>
          <p:nvPr/>
        </p:nvSpPr>
        <p:spPr bwMode="auto">
          <a:xfrm>
            <a:off x="4953631" y="2011402"/>
            <a:ext cx="8380734" cy="626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88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600" b="0" i="0" u="none" strike="noStrike" cap="none">
                <a:solidFill>
                  <a:srgbClr val="F4D314"/>
                </a:solidFill>
                <a:latin typeface="Arial"/>
                <a:ea typeface="Arial"/>
                <a:cs typeface="Arial"/>
              </a:rPr>
              <a:t>WANT TO SAY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77985805" name="Google Shape;247;p13"/>
          <p:cNvSpPr txBox="1"/>
          <p:nvPr/>
        </p:nvSpPr>
        <p:spPr bwMode="auto">
          <a:xfrm>
            <a:off x="7048816" y="6018440"/>
            <a:ext cx="4190367" cy="30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88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YOUR ATTENTION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ONLYOFFICE/9.1.0.167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</cp:revision>
  <dcterms:created xsi:type="dcterms:W3CDTF">2006-08-16T00:00:00Z</dcterms:created>
  <dcterms:modified xsi:type="dcterms:W3CDTF">2025-12-11T12:38:30Z</dcterms:modified>
</cp:coreProperties>
</file>